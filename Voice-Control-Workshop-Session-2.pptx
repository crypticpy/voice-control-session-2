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87" r:id="rId11"/>
    <p:sldId id="288" r:id="rId12"/>
    <p:sldId id="289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802"/>
    <p:restoredTop sz="94610"/>
  </p:normalViewPr>
  <p:slideViewPr>
    <p:cSldViewPr snapToGrid="0" snapToObjects="1">
      <p:cViewPr varScale="1">
        <p:scale>
          <a:sx n="352" d="100"/>
          <a:sy n="352" d="100"/>
        </p:scale>
        <p:origin x="184" y="19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6450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Greet room. Wait for audience to settle. START CLOCK when you advance to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'Walk through AI Agile process. Use the coding tool as your team. Demo ~20 min. Then iterate. Rest is Q&amp;A.'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Ask audience: 'How many have heard of Cursor? Copilot? Replit?' They ALL run the same loop. The model is the engine. The harness is the 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Walk grid quickly. All run the same loop. Claude Code gives most control. But the WORKFLOW transfers to any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Scan cards. Skills teach. Hooks enforce safety. MCP connects tools. Sub-agents = parallel (Session 3). YOLO = dangerous — we tamed it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YOLO = dangerous. Our hook = LLM gatekeeper. Near-YOLO speed, project-scoped safety.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Memory = cross-session learning. Hook = safety. Planning = Session 3. SuperWhisper = basic today. 'You don't need these to follow along.'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Left: prerequisites. Node.js is the main install. Right: .env for non-devs. 'A settings notebook only your computer reads.'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Show folder. .env = pre-loaded secrets. README = constraints. Brand guidelines = extracted from PDF to markdown for fewer tokens. Git init is CRITICAL.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Git = your safety net. AI agents move fast, mistakes happen. Every commit = a checkpoint. 'Commit early, commit often.' Show the six commands. Emphasize: even on a small project, build the habit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Show the diff display. Green = added, red = removed. 'Think of it as a receipt.' Claude Code creates diffs for every edit. If something breaks, git diff shows what happened, git checkout . reverts. Tell your agent to commit after every phase.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Draw attention to the branch diagram. Branches = parallel timelines. Today = simple, one branch. Session 3 = multiple agents each on their own branch or worktree. Git merges everything together. This is how real teams scale AI development.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Walk through left column. Emphasize: this is a LITE version — fast path to MVP so they can practice. Session 3 is the deep dive with multi-agent, iteration cycles, and deployment to Azure or any cloud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Point out teal-highlighted phases = today. Emphasize this is the LITE version for practice. Session 3 goes deeper: running many agents in parallel, iteration cycles, code review with CodeRabbit/Sourcery, and deploying to Azure or any cloud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Walk through: PLAN (left), BUILD THE PROCESS (right), RUN IT (bottom). Phases 1-7 = 53 min of planning. Phase 8 = 17 min of execution. The process IS the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Walk through chain left→right, top→bottom. Each doc feeds the next. PRD = single source of truth. ORCHESTRATOR = Mission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Walk through 10 rules. Pause on 5, 7, 9 (red badges). Then the quote: prompting vs managing. This is the key concept.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Voice prompt creates RESEARCH.md. The agent reads .env, confirms deployment name, explores Azure docs. Key point: 'We’re not asking it to guess — we’re giving it real information to draw from. Current best practices, not just what it learned in training.' This is what Anthropic calls context engineering.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This is a reference slide for the audience to use later. The example prompt shows exactly how specific you should be when asking the AI to research.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Voice prompt creates BRAINSTORM.md. Emphasize: 'You don’t need to be a developer to do this phase. You’re describing what you want in plain language and collaborating with the AI on features. It’s information gathering and scope definition.'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Emphasize that non-developers should feel empowered here. This is their phase. Plain language in, structured features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Voice prompt creates USER_STORIES.md. Key teaching: 'Research shows that multiple reinforcements through structured documents is necessary to keep models on track. Each file reinforces constraints from the previous one. That’s why we don’t skip steps.' Transition: 'Now we define done.'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Point out the chain: it reads two prior docs before writing. That’s context reinforcement in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Voice prompt creates REQUIREMENTS.md. Show one AC to audience. Key point: 'Without acceptance criteria, done is whatever the AI decides it is. With them, the AI builds tests and knows exactly when to stop. This is what makes the difference between a stub and a working feature.'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This is the ‘defining done’ slide. Show one AC and ask: ‘Could you verify this without writing code?’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Voice prompt creates PRD.md. Key point: 'Because we did the research, brainstorming, stories, and requirements first, this PRD is richer and more accurate than anything we’d get from a cold start. Better inputs = better outputs. That’s the whole methodology.'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The example prompt shows all four prior docs being read. That’s the context stack paying off — better inputs = better PRD.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Voice prompt creates SPRINTS.md. 3 sprints. Key point: 'In the full workflow from Session 3, these sprints run in parallel across multiple agents. Today we run them sequentially, but the structure is the same. Rich docs in = high quality sprints out.'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Point out that Chris defined the sprint count and boundaries. The AI fills in the details, but the structure is human-driven.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Voice prompt creates ORCHESTRATOR.md. Read rules 5 and 9 aloud. Key point: 'Someone who doesn’t know how to build software doesn’t need to — because all development tasks are governed by this document. And when it’s done, the feedback and iteration process begins. That’s Session 3.'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This is the last tips slide. The audience now has a complete playbook for building their own context 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Say the voice prompt. Then STAY QUIET. As each event happens, read the corresponding narration beat. Don’t rush — pause after each event. This is the payoff for 53 minutes of planning.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Print this. Keep it on a second screen. If anything goes wrong during the live demo, check this card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Show git log on terminal. Read the three summary stats. Then the quote. Then preview Session 3: multi-agent builds, iteration cycles, code review with CodeRabbit/Sourcery, and deploying to Azure or any cloud.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2D3548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0" y="2743200"/>
            <a:ext cx="2926080" cy="2926080"/>
          </a:xfrm>
          <a:prstGeom prst="ellipse">
            <a:avLst/>
          </a:prstGeom>
          <a:solidFill>
            <a:srgbClr val="C9A227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VOICE-DRIVEN AI DEVELOPMENT  •  SESSION 2 OF 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6858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Voice-Driven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Development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E3C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Claude Code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40080" y="37947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8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concept to working MVP — built by voice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187952"/>
            <a:ext cx="5029200" cy="18288"/>
          </a:xfrm>
          <a:prstGeom prst="rect">
            <a:avLst/>
          </a:prstGeom>
          <a:solidFill>
            <a:srgbClr val="E3C560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431596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Austin Public Health  •  AI Technology &amp; Emerging Systems  •  Ask About AI — Thursdays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2560320"/>
            <a:ext cx="3200400" cy="3200400"/>
          </a:xfrm>
          <a:prstGeom prst="ellipse">
            <a:avLst/>
          </a:prstGeom>
          <a:solidFill>
            <a:srgbClr val="2D3548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371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Today’s Objective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52898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C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Walk through an AI Agile process.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39791" y="1362959"/>
            <a:ext cx="3691575" cy="1088136"/>
          </a:xfrm>
          <a:prstGeom prst="rect">
            <a:avLst/>
          </a:prstGeom>
          <a:solidFill>
            <a:srgbClr val="252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84277" y="1422395"/>
            <a:ext cx="34961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coding tool as your project team —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the idea, develop user stories, write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requirements, build the prompts, then in one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shot — have it build the entire app.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90917" y="941832"/>
            <a:ext cx="260421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SESSION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390917" y="1170432"/>
            <a:ext cx="548640" cy="29260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390917" y="11704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012709" y="1170432"/>
            <a:ext cx="198241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&amp; Context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012709" y="1316736"/>
            <a:ext cx="1982419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slides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390917" y="1517904"/>
            <a:ext cx="548640" cy="29260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90917" y="1517904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012709" y="1517904"/>
            <a:ext cx="198241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&amp; Build Process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12709" y="1664208"/>
            <a:ext cx="1982419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1-7 by voice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390917" y="1865376"/>
            <a:ext cx="548640" cy="29260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90917" y="1865376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012709" y="1865376"/>
            <a:ext cx="198241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&amp; Watch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012709" y="2011680"/>
            <a:ext cx="1982419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One-shot MVP build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390917" y="2212848"/>
            <a:ext cx="548640" cy="29260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90917" y="221284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012709" y="2212848"/>
            <a:ext cx="198241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&amp; Refine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012709" y="2359152"/>
            <a:ext cx="1982419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features, polish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390917" y="2560320"/>
            <a:ext cx="548640" cy="29260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390917" y="256032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012709" y="2560320"/>
            <a:ext cx="198241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12709" y="2706624"/>
            <a:ext cx="1982419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questions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11309" y="3739896"/>
            <a:ext cx="8138160" cy="841248"/>
          </a:xfrm>
          <a:prstGeom prst="rect">
            <a:avLst/>
          </a:prstGeom>
          <a:solidFill>
            <a:srgbClr val="252B3D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94189" y="3922776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MVP is running, we’ll show how to rapidly iterate, refine the design, add features, and polish the UI.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2D3548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371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an AI Harness?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58594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AI coding tool — Claude Code, Cursor, Windsurf, Copilot, Gemini, Replit — runs the same core loop.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04672" y="1143000"/>
            <a:ext cx="1389888" cy="1005840"/>
          </a:xfrm>
          <a:prstGeom prst="rect">
            <a:avLst/>
          </a:prstGeom>
          <a:solidFill>
            <a:srgbClr val="252B3D"/>
          </a:solidFill>
          <a:ln w="6350">
            <a:solidFill>
              <a:srgbClr val="3A4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71600" y="1252728"/>
            <a:ext cx="256032" cy="256032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71600" y="12527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77824" y="1581912"/>
            <a:ext cx="1243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77824" y="1801368"/>
            <a:ext cx="124358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describe the task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94560" y="1536192"/>
            <a:ext cx="1463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40864" y="1143000"/>
            <a:ext cx="1389888" cy="1005840"/>
          </a:xfrm>
          <a:prstGeom prst="rect">
            <a:avLst/>
          </a:prstGeom>
          <a:solidFill>
            <a:srgbClr val="252B3D"/>
          </a:solidFill>
          <a:ln w="6350">
            <a:solidFill>
              <a:srgbClr val="3A4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907792" y="1252728"/>
            <a:ext cx="256032" cy="256032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907792" y="12527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14016" y="1581912"/>
            <a:ext cx="1243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14016" y="1801368"/>
            <a:ext cx="124358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breaks it into steps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730752" y="1536192"/>
            <a:ext cx="1463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77056" y="1143000"/>
            <a:ext cx="1389888" cy="1005840"/>
          </a:xfrm>
          <a:prstGeom prst="rect">
            <a:avLst/>
          </a:prstGeom>
          <a:solidFill>
            <a:srgbClr val="252B3D"/>
          </a:solidFill>
          <a:ln w="6350">
            <a:solidFill>
              <a:srgbClr val="3A4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443984" y="1252728"/>
            <a:ext cx="256032" cy="256032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443984" y="12527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50208" y="1581912"/>
            <a:ext cx="1243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50208" y="1801368"/>
            <a:ext cx="124358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commands, edits files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66944" y="1536192"/>
            <a:ext cx="1463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13248" y="1143000"/>
            <a:ext cx="1389888" cy="1005840"/>
          </a:xfrm>
          <a:prstGeom prst="rect">
            <a:avLst/>
          </a:prstGeom>
          <a:solidFill>
            <a:srgbClr val="252B3D"/>
          </a:solidFill>
          <a:ln w="6350">
            <a:solidFill>
              <a:srgbClr val="3A4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980176" y="1252728"/>
            <a:ext cx="256032" cy="256032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980176" y="12527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0" y="1581912"/>
            <a:ext cx="1243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0" y="1801368"/>
            <a:ext cx="124358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output, checks results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03136" y="1536192"/>
            <a:ext cx="1463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949440" y="1143000"/>
            <a:ext cx="1389888" cy="1005840"/>
          </a:xfrm>
          <a:prstGeom prst="rect">
            <a:avLst/>
          </a:prstGeom>
          <a:solidFill>
            <a:srgbClr val="252B3D"/>
          </a:solidFill>
          <a:ln w="19050">
            <a:solidFill>
              <a:srgbClr val="E3C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516368" y="1252728"/>
            <a:ext cx="256032" cy="256032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516368" y="12527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022592" y="1581912"/>
            <a:ext cx="1243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22592" y="1801368"/>
            <a:ext cx="124358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Adjusts strategy, loops back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078992" y="2258568"/>
            <a:ext cx="6986016" cy="27432"/>
          </a:xfrm>
          <a:prstGeom prst="rect">
            <a:avLst/>
          </a:prstGeom>
          <a:solidFill>
            <a:srgbClr val="E3C560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04672" y="2295144"/>
            <a:ext cx="75346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  Loop continues until task is complete  ◀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02920" y="2514600"/>
            <a:ext cx="8138160" cy="960120"/>
          </a:xfrm>
          <a:prstGeom prst="rect">
            <a:avLst/>
          </a:prstGeom>
          <a:solidFill>
            <a:srgbClr val="252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85800" y="25877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HARNESS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5800" y="2807208"/>
            <a:ext cx="137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868680" y="2807208"/>
            <a:ext cx="5212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Curates context — decides what the model sees at each step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85800" y="2971800"/>
            <a:ext cx="137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868680" y="2971800"/>
            <a:ext cx="5212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Manages the boot sequence — system prompts, lifecycle hooks, memory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85800" y="3136392"/>
            <a:ext cx="137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868680" y="3136392"/>
            <a:ext cx="5212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tool drivers — file system, terminal, browser, APIs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85800" y="3300984"/>
            <a:ext cx="137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868680" y="3300984"/>
            <a:ext cx="5212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the virtual environment — sandboxed execution, safe by default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080760" y="2587752"/>
            <a:ext cx="2377440" cy="822960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217920" y="2587752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 was Agents.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E3C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 is Harnesses.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02920" y="3611880"/>
            <a:ext cx="8138160" cy="38404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85800" y="361188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is the engine.  The harness is the car.  </a:t>
            </a:r>
          </a:p>
          <a:p>
            <a:pPr marL="0" indent="0" algn="ctr">
              <a:buNone/>
            </a:pPr>
            <a:r>
              <a:rPr lang="en-US" sz="1100" b="1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tools on the market are building a different car around the same engines.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3716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Engine, Different Cars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sets them apart: how they manage context, customize the loop, and sandbox execution.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868680"/>
            <a:ext cx="2602992" cy="1234440"/>
          </a:xfrm>
          <a:prstGeom prst="rect">
            <a:avLst/>
          </a:prstGeom>
          <a:solidFill>
            <a:srgbClr val="1A1F2E"/>
          </a:solidFill>
          <a:ln w="25400">
            <a:solidFill>
              <a:srgbClr val="C9A227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12648" y="960120"/>
            <a:ext cx="2383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3C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" y="1252728"/>
            <a:ext cx="2383536" cy="201168"/>
          </a:xfrm>
          <a:prstGeom prst="rect">
            <a:avLst/>
          </a:prstGeom>
          <a:solidFill>
            <a:srgbClr val="252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12648" y="1252728"/>
            <a:ext cx="23835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Agent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12648" y="1527048"/>
            <a:ext cx="23835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Skills, hooks, MCP servers, sub-agents. Full customization. You own the harness.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33928" y="868680"/>
            <a:ext cx="260299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43656" y="960120"/>
            <a:ext cx="2383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Cursor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43656" y="1252728"/>
            <a:ext cx="2383536" cy="201168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43656" y="1252728"/>
            <a:ext cx="23835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 Agent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343656" y="1527048"/>
            <a:ext cx="23835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Composer mode, inline editing, isolated worktrees. Best file explorer.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64936" y="868680"/>
            <a:ext cx="260299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74664" y="960120"/>
            <a:ext cx="2383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Factory Droid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74664" y="1252728"/>
            <a:ext cx="2383536" cy="201168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74664" y="1252728"/>
            <a:ext cx="23835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 Agent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074664" y="1527048"/>
            <a:ext cx="23835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Cascade flows, persistent session context. Improves over long sessions.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2231136"/>
            <a:ext cx="260299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2648" y="2322576"/>
            <a:ext cx="2383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Copilot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2648" y="2615184"/>
            <a:ext cx="2383536" cy="201168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12648" y="2615184"/>
            <a:ext cx="23835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Multi-Model IDE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12648" y="2889504"/>
            <a:ext cx="23835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Multi-agent, many models in one workspace. Best incremental typing.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33928" y="2231136"/>
            <a:ext cx="260299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43656" y="2322576"/>
            <a:ext cx="2383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Gemini Antigravity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343656" y="2615184"/>
            <a:ext cx="2383536" cy="201168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343656" y="2615184"/>
            <a:ext cx="23835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 + Cloud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43656" y="2889504"/>
            <a:ext cx="23835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ecosystem, deep search integration. Cloud-native tooling.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964936" y="2231136"/>
            <a:ext cx="260299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074664" y="2322576"/>
            <a:ext cx="2383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Replit Agent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074664" y="2615184"/>
            <a:ext cx="2383536" cy="201168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074664" y="2615184"/>
            <a:ext cx="23835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IDE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074664" y="2889504"/>
            <a:ext cx="23835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setup, instant deploy. Great for prototyping and beginners.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02920" y="3575304"/>
            <a:ext cx="8138160" cy="502920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85800" y="3575304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workshop uses Claude Code — but the methodology works on any of these.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workflow is the product. The tool is just the vehicle.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3716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 — Under the Hood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features that make a harness customizable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976897"/>
            <a:ext cx="3995928" cy="507031"/>
          </a:xfrm>
          <a:prstGeom prst="rect">
            <a:avLst/>
          </a:prstGeom>
          <a:solidFill>
            <a:srgbClr val="252B3D"/>
          </a:solidFill>
          <a:ln w="6350">
            <a:solidFill>
              <a:srgbClr val="3A4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76072" y="1024128"/>
            <a:ext cx="1005840" cy="18288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76072" y="1024128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1243584"/>
            <a:ext cx="3849624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SKILL.md files with instructions. /command. Teach the agent HOW to work.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0" y="972998"/>
            <a:ext cx="4175872" cy="514664"/>
          </a:xfrm>
          <a:prstGeom prst="rect">
            <a:avLst/>
          </a:prstGeom>
          <a:solidFill>
            <a:srgbClr val="252B3D"/>
          </a:solidFill>
          <a:ln w="6350">
            <a:solidFill>
              <a:srgbClr val="3A4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45152" y="1027862"/>
            <a:ext cx="1005840" cy="18288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45152" y="102786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645152" y="1247318"/>
            <a:ext cx="40565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Pre/post scripts at lifecycle points. Validate files, block dangerous commands.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" y="1718444"/>
            <a:ext cx="3995928" cy="475488"/>
          </a:xfrm>
          <a:prstGeom prst="rect">
            <a:avLst/>
          </a:prstGeom>
          <a:solidFill>
            <a:srgbClr val="252B3D"/>
          </a:solidFill>
          <a:ln w="6350">
            <a:solidFill>
              <a:srgbClr val="3A4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76072" y="1773308"/>
            <a:ext cx="1141171" cy="18288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76072" y="1773308"/>
            <a:ext cx="114117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Slash Commands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76072" y="1992764"/>
            <a:ext cx="3849624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/commands merged into skills. Trigger workflows and diagnostics.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1999" y="1716094"/>
            <a:ext cx="4175871" cy="475488"/>
          </a:xfrm>
          <a:prstGeom prst="rect">
            <a:avLst/>
          </a:prstGeom>
          <a:solidFill>
            <a:srgbClr val="252B3D"/>
          </a:solidFill>
          <a:ln w="6350">
            <a:solidFill>
              <a:srgbClr val="3A4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45152" y="1770958"/>
            <a:ext cx="1005840" cy="18288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45152" y="1770958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45152" y="1990414"/>
            <a:ext cx="3849624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Context Protocol. Plug in external tools, databases, APIs, browsers.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02920" y="2435493"/>
            <a:ext cx="3995928" cy="475488"/>
          </a:xfrm>
          <a:prstGeom prst="rect">
            <a:avLst/>
          </a:prstGeom>
          <a:solidFill>
            <a:srgbClr val="252B3D"/>
          </a:solidFill>
          <a:ln w="6350">
            <a:solidFill>
              <a:srgbClr val="3A4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76072" y="2490357"/>
            <a:ext cx="1005840" cy="18288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76072" y="2490357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76072" y="2709813"/>
            <a:ext cx="3849624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 agents with dedicated context. Shared task lists. Parallel work.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0" y="2420014"/>
            <a:ext cx="4175870" cy="475488"/>
          </a:xfrm>
          <a:prstGeom prst="rect">
            <a:avLst/>
          </a:prstGeom>
          <a:solidFill>
            <a:srgbClr val="252B3D"/>
          </a:solidFill>
          <a:ln w="6350">
            <a:solidFill>
              <a:srgbClr val="3A4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45152" y="2474878"/>
            <a:ext cx="1005840" cy="18288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45152" y="2474878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645152" y="2694334"/>
            <a:ext cx="3849624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memory. Persistent instructions, style rules, constraints.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2920" y="3062318"/>
            <a:ext cx="3995928" cy="706689"/>
          </a:xfrm>
          <a:prstGeom prst="rect">
            <a:avLst/>
          </a:prstGeom>
          <a:solidFill>
            <a:srgbClr val="252B3D"/>
          </a:solidFill>
          <a:ln w="6350">
            <a:solidFill>
              <a:srgbClr val="3A4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76072" y="3117183"/>
            <a:ext cx="1005840" cy="18288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76072" y="3117183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Compaction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76072" y="3336639"/>
            <a:ext cx="3849624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summarization when context fills. Preserves decisions and history.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45152" y="3153758"/>
            <a:ext cx="3995928" cy="475488"/>
          </a:xfrm>
          <a:prstGeom prst="rect">
            <a:avLst/>
          </a:prstGeom>
          <a:solidFill>
            <a:srgbClr val="252B3D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718304" y="3208622"/>
            <a:ext cx="1005840" cy="1828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18304" y="320862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 Mode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718304" y="3428078"/>
            <a:ext cx="3849624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Auto-accept all actions. No prompts. Maximum speed, maximum risk.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02920" y="4166603"/>
            <a:ext cx="8138160" cy="347472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85800" y="4166603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+ Hooks + MCP = a fully customizable harness.  That’s why we chose Claude Code.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3716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YOLO Mode &amp; Our Permission Hook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3824935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36420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 MODE — --dangerously-skip-permissions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987551"/>
            <a:ext cx="3824935" cy="1273281"/>
          </a:xfrm>
          <a:prstGeom prst="rect">
            <a:avLst/>
          </a:prstGeom>
          <a:solidFill>
            <a:srgbClr val="252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12648" y="1024128"/>
            <a:ext cx="3605479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does: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every command without asking.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confirmation dialogs. Full autonomy.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risks: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Arbitrary code execution  • Unmonitored file ops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Unrestricted network  • Can act outside project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want it: permission prompts every 30s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the time horizon of your task.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816145" y="658368"/>
            <a:ext cx="3824935" cy="2743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07585" y="658368"/>
            <a:ext cx="36420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 — LLM Permission Hook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16145" y="987552"/>
            <a:ext cx="3824935" cy="1097280"/>
          </a:xfrm>
          <a:prstGeom prst="rect">
            <a:avLst/>
          </a:prstGeom>
          <a:solidFill>
            <a:srgbClr val="252B3D"/>
          </a:solidFill>
          <a:ln w="190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25873" y="1024128"/>
            <a:ext cx="3605479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works: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command passes through a mini-LLM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gatekeeper before executing.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not regex?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strict (blocks safe) or too loose (misses attacks).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Evaluates: Inside project? Destructive? System?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297637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FLOW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08660" y="3177540"/>
            <a:ext cx="1828800" cy="457200"/>
          </a:xfrm>
          <a:prstGeom prst="rect">
            <a:avLst/>
          </a:prstGeom>
          <a:solidFill>
            <a:srgbClr val="252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81812" y="3177540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37460" y="317754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74620" y="3177540"/>
            <a:ext cx="1828800" cy="4572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7772" y="3177540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Mini-LLM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03420" y="317754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40580" y="3177540"/>
            <a:ext cx="1828800" cy="45720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13732" y="3177540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Safe?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69380" y="317754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606540" y="3177540"/>
            <a:ext cx="1828800" cy="4572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679692" y="3177540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Dangerous?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+ Alert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" y="3771900"/>
            <a:ext cx="8138160" cy="347472"/>
          </a:xfrm>
          <a:prstGeom prst="rect">
            <a:avLst/>
          </a:prstGeom>
          <a:solidFill>
            <a:srgbClr val="252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5800" y="377190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near-YOLO speed with project-scoped safety.  The agent runs uninterrupted — but can’t escape its sandbox.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3716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Customizations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we’ve added to the harness beyond the defaults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841248"/>
            <a:ext cx="3995928" cy="914400"/>
          </a:xfrm>
          <a:prstGeom prst="rect">
            <a:avLst/>
          </a:prstGeom>
          <a:solidFill>
            <a:srgbClr val="252B3D"/>
          </a:solidFill>
          <a:ln w="6350">
            <a:solidFill>
              <a:srgbClr val="3A4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12648" y="914400"/>
            <a:ext cx="3776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 Memory Server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11296" y="932688"/>
            <a:ext cx="877824" cy="18288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511296" y="932688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TODAY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12648" y="1188720"/>
            <a:ext cx="377647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conversation compaction grabs a summary for persistent history. Tracks context fullness. Agent saves its own memories across sessions.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45152" y="841248"/>
            <a:ext cx="3995928" cy="914400"/>
          </a:xfrm>
          <a:prstGeom prst="rect">
            <a:avLst/>
          </a:prstGeom>
          <a:solidFill>
            <a:srgbClr val="252B3D"/>
          </a:solidFill>
          <a:ln w="6350">
            <a:solidFill>
              <a:srgbClr val="3A4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914400"/>
            <a:ext cx="3776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Permission Hook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653528" y="932688"/>
            <a:ext cx="877824" cy="18288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653528" y="932688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TODAY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754880" y="1188720"/>
            <a:ext cx="377647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command through a mini-LLM gatekeeper. Protects our environment. Rejects anything outside the project or destructive. Near-YOLO speed.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2920" y="1865376"/>
            <a:ext cx="3995928" cy="914400"/>
          </a:xfrm>
          <a:prstGeom prst="rect">
            <a:avLst/>
          </a:prstGeom>
          <a:solidFill>
            <a:srgbClr val="252B3D"/>
          </a:solidFill>
          <a:ln w="6350">
            <a:solidFill>
              <a:srgbClr val="3A4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2648" y="1938528"/>
            <a:ext cx="3776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Planning &amp; Slash Commands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75888" y="1956816"/>
            <a:ext cx="713232" cy="18288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75888" y="1956816"/>
            <a:ext cx="713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3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12648" y="2212848"/>
            <a:ext cx="377647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commands for multi-agent frameworks. Architect tasks that split across agents for parallel work. More next session.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45152" y="1865376"/>
            <a:ext cx="3995928" cy="914400"/>
          </a:xfrm>
          <a:prstGeom prst="rect">
            <a:avLst/>
          </a:prstGeom>
          <a:solidFill>
            <a:srgbClr val="252B3D"/>
          </a:solidFill>
          <a:ln w="6350">
            <a:solidFill>
              <a:srgbClr val="3A4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0" y="1938528"/>
            <a:ext cx="3776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SuperWhisper Voice Input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708392" y="1956816"/>
            <a:ext cx="822960" cy="18288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08392" y="195681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TODAY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754880" y="2212848"/>
            <a:ext cx="377647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basic voice-to-text. Session 3: AI intermediary processes voice through a second LLM. Smarter input, fewer corrections.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02920" y="2907792"/>
            <a:ext cx="8138160" cy="347472"/>
          </a:xfrm>
          <a:prstGeom prst="rect">
            <a:avLst/>
          </a:prstGeom>
          <a:solidFill>
            <a:srgbClr val="252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85800" y="290779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don’t need these customizations to follow this workshop. They’re how WE optimize the experience.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3716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Environment Setup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What’s installed on our Mac and what you’d need to replicate this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390631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A8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PREREQUISITES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3906317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4360" y="1170432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95528" y="1152144"/>
            <a:ext cx="3540557" cy="1645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macOS / Windows / Linux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95528" y="1316736"/>
            <a:ext cx="3540557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modern OS works, Windows has some hurdles. 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1636776"/>
            <a:ext cx="3906317" cy="41567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94360" y="1814706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95526" y="1747427"/>
            <a:ext cx="3540557" cy="1645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18+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95527" y="1851282"/>
            <a:ext cx="3540557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for Claude Code &amp; npm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2162178"/>
            <a:ext cx="3906317" cy="4072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94360" y="2331720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95526" y="2285664"/>
            <a:ext cx="3540557" cy="1645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95526" y="2367793"/>
            <a:ext cx="3540557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 — orchestrator needs it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920" y="2636073"/>
            <a:ext cx="3906317" cy="4072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94360" y="2770632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95528" y="2679192"/>
            <a:ext cx="3540557" cy="1645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95525" y="2798862"/>
            <a:ext cx="3540557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install -g @anthropic-ai/claude-code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02920" y="3151323"/>
            <a:ext cx="3906317" cy="369117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94360" y="3282696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95525" y="3206148"/>
            <a:ext cx="3540557" cy="1645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OpenAI API Key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95524" y="3319272"/>
            <a:ext cx="3540557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OpenAI endpoint + key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02920" y="3657600"/>
            <a:ext cx="3906317" cy="4069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94360" y="3826764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95528" y="3735324"/>
            <a:ext cx="3540557" cy="1645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Editor (optional)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95523" y="3845052"/>
            <a:ext cx="3540557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Code, Cursor — or just terminal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34763" y="822960"/>
            <a:ext cx="390631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A8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.ENV FILE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34763" y="1078992"/>
            <a:ext cx="3906317" cy="1582878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44491" y="1115568"/>
            <a:ext cx="3686861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.env — your secrets notebook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E3C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AZURE_ENDPOINT=https://your-resource...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E3C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AZURE_API_KEY=sk-xxxxxxxxxxxxxxx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E3C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DEPLOYMENT_NAME=gpt-4o-mini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E3C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API_VERSION=2024-08-01-preview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Never committed. Never typed live.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34763" y="2954478"/>
            <a:ext cx="3906317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26203" y="2991054"/>
            <a:ext cx="3723437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26203" y="3155646"/>
            <a:ext cx="3723437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settings file on YOUR machine. API keys, endpoints — never in code.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734763" y="3484830"/>
            <a:ext cx="3906317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26203" y="3521406"/>
            <a:ext cx="3723437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26203" y="3685998"/>
            <a:ext cx="3723437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it, secrets end up in GitHub. .env stays local, never committed.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734763" y="4015182"/>
            <a:ext cx="3906317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826203" y="4051758"/>
            <a:ext cx="3723437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this demo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26203" y="4216350"/>
            <a:ext cx="3723437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Pre-loaded with Azure endpoint and API key. Agent reads it to connect.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3716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What’s in the Project Folder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the agent needs to start — nothing more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822960"/>
            <a:ext cx="3931920" cy="2743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●  ●   policy-converter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097280"/>
            <a:ext cx="3931920" cy="2103120"/>
          </a:xfrm>
          <a:prstGeom prst="rect">
            <a:avLst/>
          </a:prstGeom>
          <a:solidFill>
            <a:srgbClr val="0D0D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143000"/>
            <a:ext cx="36576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b="1" dirty="0">
                <a:solidFill>
                  <a:srgbClr val="E3C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-la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b="1" dirty="0">
                <a:solidFill>
                  <a:srgbClr val="E3C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style-guide/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APH_Brand_Guidelines.md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logo-primary.png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logo-reverse.png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b="1" dirty="0">
                <a:solidFill>
                  <a:srgbClr val="E3C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log --oneline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A88B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a1b2c3  Initial commit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822960"/>
            <a:ext cx="3977640" cy="438912"/>
          </a:xfrm>
          <a:prstGeom prst="rect">
            <a:avLst/>
          </a:prstGeom>
          <a:solidFill>
            <a:srgbClr val="252B3D"/>
          </a:solidFill>
          <a:ln w="6350">
            <a:solidFill>
              <a:srgbClr val="3A4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0" y="859536"/>
            <a:ext cx="3794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.env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54880" y="1005840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Pre-loaded secrets. Azure endpoint, API key, deployment name. Never typed live.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663440" y="1316736"/>
            <a:ext cx="3977640" cy="438912"/>
          </a:xfrm>
          <a:prstGeom prst="rect">
            <a:avLst/>
          </a:prstGeom>
          <a:solidFill>
            <a:srgbClr val="252B3D"/>
          </a:solidFill>
          <a:ln w="6350">
            <a:solidFill>
              <a:srgbClr val="3A4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1353312"/>
            <a:ext cx="3794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README.md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754880" y="1499616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Constrains the agent. Plain HTML/CSS/JS + Node. No React. No build step.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663440" y="1810512"/>
            <a:ext cx="3977640" cy="438912"/>
          </a:xfrm>
          <a:prstGeom prst="rect">
            <a:avLst/>
          </a:prstGeom>
          <a:solidFill>
            <a:srgbClr val="252B3D"/>
          </a:solidFill>
          <a:ln w="6350">
            <a:solidFill>
              <a:srgbClr val="3A4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0" y="1847088"/>
            <a:ext cx="3794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Guidelines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54880" y="1993392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Extracted from APH’s PDF brand guide into markdown. Uses less tokens. Colors, fonts, logos.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663440" y="2304288"/>
            <a:ext cx="3977640" cy="438912"/>
          </a:xfrm>
          <a:prstGeom prst="rect">
            <a:avLst/>
          </a:prstGeom>
          <a:solidFill>
            <a:srgbClr val="252B3D"/>
          </a:solidFill>
          <a:ln w="6350">
            <a:solidFill>
              <a:srgbClr val="3A4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0" y="2340864"/>
            <a:ext cx="3794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Files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54880" y="2487168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graphics pulled from the brand package. Agent reads and applies automatically.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663440" y="2798064"/>
            <a:ext cx="3977640" cy="438912"/>
          </a:xfrm>
          <a:prstGeom prst="rect">
            <a:avLst/>
          </a:prstGeom>
          <a:solidFill>
            <a:srgbClr val="252B3D"/>
          </a:solidFill>
          <a:ln w="6350">
            <a:solidFill>
              <a:srgbClr val="3A4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54880" y="2834640"/>
            <a:ext cx="3794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init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54880" y="2980944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CRITICAL. Without a repo, the orchestrator can’t commit. Everything fails at Phase 8.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02920" y="4594860"/>
            <a:ext cx="8138160" cy="347472"/>
          </a:xfrm>
          <a:prstGeom prst="rect">
            <a:avLst/>
          </a:prstGeom>
          <a:solidFill>
            <a:srgbClr val="252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5800" y="459486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3C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Everything else = voice.   We converted the PDF brand guide to markdown because it uses fewer tokens.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126480" y="-2103120"/>
            <a:ext cx="2743200" cy="2743200"/>
          </a:xfrm>
          <a:prstGeom prst="ellipse">
            <a:avLst/>
          </a:prstGeom>
          <a:solidFill>
            <a:srgbClr val="2A3048">
              <a:alpha val="4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1371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Why Git?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61036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D4B44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Your complex rewind system for AI-assisted development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02920" y="868680"/>
            <a:ext cx="4475988" cy="1325880"/>
          </a:xfrm>
          <a:prstGeom prst="rect">
            <a:avLst/>
          </a:prstGeom>
          <a:solidFill>
            <a:srgbClr val="23283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896112"/>
            <a:ext cx="4110228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AI agents move fast.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4B44A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Really fast.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B0B8C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One errant command can rewrite files, delete code,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B0B8C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or restructure your project in seconds.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B0B8C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Git is your safety net. Every commit is a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checkpoint you can rewind to instantly.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161787" y="868680"/>
            <a:ext cx="3731387" cy="420624"/>
          </a:xfrm>
          <a:prstGeom prst="rect">
            <a:avLst/>
          </a:prstGeom>
          <a:solidFill>
            <a:srgbClr val="232838"/>
          </a:solidFill>
          <a:ln w="6350">
            <a:solidFill>
              <a:srgbClr val="3A405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253228" y="960120"/>
            <a:ext cx="256032" cy="256032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253228" y="9601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A1F2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582412" y="905256"/>
            <a:ext cx="29855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CYA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582411" y="1069848"/>
            <a:ext cx="3215513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B0B8C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Cover Your Assets. If anything breaks, you can always roll back.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161788" y="1344168"/>
            <a:ext cx="3731386" cy="420624"/>
          </a:xfrm>
          <a:prstGeom prst="rect">
            <a:avLst/>
          </a:prstGeom>
          <a:solidFill>
            <a:srgbClr val="232838"/>
          </a:solidFill>
          <a:ln w="6350">
            <a:solidFill>
              <a:srgbClr val="3A405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253228" y="1435608"/>
            <a:ext cx="256032" cy="256032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253228" y="14356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A1F2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582412" y="1380744"/>
            <a:ext cx="29855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Track Everything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582412" y="1545336"/>
            <a:ext cx="298551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B0B8C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See exactly what changed, when, and why, across every file.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161788" y="1819656"/>
            <a:ext cx="3731386" cy="420624"/>
          </a:xfrm>
          <a:prstGeom prst="rect">
            <a:avLst/>
          </a:prstGeom>
          <a:solidFill>
            <a:srgbClr val="232838"/>
          </a:solidFill>
          <a:ln w="6350">
            <a:solidFill>
              <a:srgbClr val="3A405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253228" y="1911096"/>
            <a:ext cx="256032" cy="256032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253228" y="19110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A1F2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582412" y="1856232"/>
            <a:ext cx="29855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Undo Anything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582412" y="2020824"/>
            <a:ext cx="298551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B0B8C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Bad generation? One command reverts to the last good state.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02920" y="2359152"/>
            <a:ext cx="8138160" cy="320040"/>
          </a:xfrm>
          <a:prstGeom prst="rect">
            <a:avLst/>
          </a:prstGeom>
          <a:solidFill>
            <a:srgbClr val="23283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0080" y="235915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200" normalizeH="0" baseline="0" noProof="0" dirty="0">
                <a:ln>
                  <a:noFill/>
                </a:ln>
                <a:solidFill>
                  <a:srgbClr val="C9A22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THE HABIT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600200" y="2359152"/>
            <a:ext cx="6903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Commit early. Commit often. Direct your AI to commit after every meaningful change.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02920" y="293522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200" normalizeH="0" baseline="0" noProof="0" dirty="0">
                <a:ln>
                  <a:noFill/>
                </a:ln>
                <a:solidFill>
                  <a:srgbClr val="8A7A3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ESSENTIAL COMMANDS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02920" y="3246120"/>
            <a:ext cx="2560320" cy="475488"/>
          </a:xfrm>
          <a:prstGeom prst="rect">
            <a:avLst/>
          </a:prstGeom>
          <a:solidFill>
            <a:srgbClr val="0D0D1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94360" y="330098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D4B44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94360" y="350215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B0B8C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Start tracking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118104" y="3246120"/>
            <a:ext cx="2560320" cy="475488"/>
          </a:xfrm>
          <a:prstGeom prst="rect">
            <a:avLst/>
          </a:prstGeom>
          <a:solidFill>
            <a:srgbClr val="0D0D1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209544" y="330098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D4B44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209544" y="350215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B0B8C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Stage all changes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733288" y="3246120"/>
            <a:ext cx="2560320" cy="475488"/>
          </a:xfrm>
          <a:prstGeom prst="rect">
            <a:avLst/>
          </a:prstGeom>
          <a:solidFill>
            <a:srgbClr val="0D0D1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824728" y="330098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D4B44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"..."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824728" y="350215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B0B8C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Save a checkpoint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02920" y="3794760"/>
            <a:ext cx="2560320" cy="475488"/>
          </a:xfrm>
          <a:prstGeom prst="rect">
            <a:avLst/>
          </a:prstGeom>
          <a:solidFill>
            <a:srgbClr val="0D0D1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94360" y="384962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D4B44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--oneline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94360" y="405079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B0B8C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View history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3118104" y="3794760"/>
            <a:ext cx="2560320" cy="475488"/>
          </a:xfrm>
          <a:prstGeom prst="rect">
            <a:avLst/>
          </a:prstGeom>
          <a:solidFill>
            <a:srgbClr val="0D0D1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3209544" y="384962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D4B44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git diff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3209544" y="405079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B0B8C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See what changed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5733288" y="3794760"/>
            <a:ext cx="2560320" cy="475488"/>
          </a:xfrm>
          <a:prstGeom prst="rect">
            <a:avLst/>
          </a:prstGeom>
          <a:solidFill>
            <a:srgbClr val="0D0D1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824728" y="384962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D4B44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824728" y="405079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B0B8C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Revert everything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502920" y="4640580"/>
            <a:ext cx="8138160" cy="347472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685800" y="464058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A1F2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It's not just version control — it's your insurance policy when an AI agent has full autonomy.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1371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A1F2E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Diffs — How Changes Are Tracked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Every edit the agent makes is visible, reviewable, and reversible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841248"/>
            <a:ext cx="3906317" cy="2743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94360" y="841248"/>
            <a:ext cx="372343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●  ●  ●   git diff index.html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2920" y="1115568"/>
            <a:ext cx="3906317" cy="1828800"/>
          </a:xfrm>
          <a:prstGeom prst="rect">
            <a:avLst/>
          </a:prstGeom>
          <a:solidFill>
            <a:srgbClr val="0D0D1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12648" y="1161288"/>
            <a:ext cx="3686861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B7BD4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@@ -12,4 +12,8 @@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B0B8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class="header"&gt;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8717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-   &lt;h1&gt;Welcome&lt;/h1&gt;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+   &lt;h1&gt;Austin Public Health&lt;/h1&gt;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+   &lt;p class="subtitle"&gt;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+     Policy Converter Tool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+   &lt;/p&gt;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B0B8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02920" y="3017520"/>
            <a:ext cx="1838456" cy="237744"/>
          </a:xfrm>
          <a:prstGeom prst="rect">
            <a:avLst/>
          </a:prstGeom>
          <a:solidFill>
            <a:srgbClr val="1A2E1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76072" y="3017520"/>
            <a:ext cx="17287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+ Lines added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414528" y="3017520"/>
            <a:ext cx="1838456" cy="237744"/>
          </a:xfrm>
          <a:prstGeom prst="rect">
            <a:avLst/>
          </a:prstGeom>
          <a:solidFill>
            <a:srgbClr val="2E1A1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487680" y="3017520"/>
            <a:ext cx="17287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8717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− Lines removed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734763" y="841248"/>
            <a:ext cx="3906317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734763" y="841248"/>
            <a:ext cx="45720" cy="77724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71923" y="914400"/>
            <a:ext cx="367771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A1F2E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What Is a Diff?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71923" y="1051560"/>
            <a:ext cx="3677717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 line-by-line comparison showing exactly what was added, removed, or changed between two versions of a file. Green = added. Red = removed.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734763" y="1719072"/>
            <a:ext cx="3906317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734763" y="1719072"/>
            <a:ext cx="45720" cy="7772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871923" y="1792224"/>
            <a:ext cx="367771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A1F2E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How Claude Code Uses Them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871923" y="1924812"/>
            <a:ext cx="3677717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Every file edit the agent makes goes through Git. You see the diff before committing — or review after. The agent can also read diffs to understand its own changes.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734763" y="2596896"/>
            <a:ext cx="3906317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734763" y="2596896"/>
            <a:ext cx="45720" cy="7772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871923" y="2670048"/>
            <a:ext cx="367771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A1F2E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When Things Go Wrong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844088" y="2811780"/>
            <a:ext cx="3677717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Bad generation? Run git diff to see what changed. Then git checkout . to revert everything back to the last commit. Instant undo — no damage done.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02920" y="3611880"/>
            <a:ext cx="8138160" cy="347472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85800" y="361188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Think of diffs as a receipt for every change.  </a:t>
            </a: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D4B44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Nothing the agent does is invisible.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02920" y="4069080"/>
            <a:ext cx="8138160" cy="347472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85800" y="406908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A1F2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Pro tip:  Tell your agent "commit after every phase" — then each phase becomes a rollback point.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-3200400" y="2286000"/>
            <a:ext cx="3657600" cy="3657600"/>
          </a:xfrm>
          <a:prstGeom prst="ellipse">
            <a:avLst/>
          </a:prstGeom>
          <a:solidFill>
            <a:srgbClr val="2A3048">
              <a:alpha val="4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1371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Branches &amp; Worktrees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D4B44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How Git scales from solo projects to multi-agent orchestration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02920" y="868680"/>
            <a:ext cx="8138160" cy="1804670"/>
          </a:xfrm>
          <a:prstGeom prst="rect">
            <a:avLst/>
          </a:prstGeom>
          <a:solidFill>
            <a:srgbClr val="23283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68680" y="1325880"/>
            <a:ext cx="7406640" cy="27432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94360" y="1110996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D4B44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536192" y="1275588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633472" y="1275588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376672" y="1275588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388352" y="1275588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697480" y="1362456"/>
            <a:ext cx="27432" cy="38404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697480" y="1737360"/>
            <a:ext cx="2560320" cy="2743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364992" y="1687068"/>
            <a:ext cx="128016" cy="128016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096512" y="1687068"/>
            <a:ext cx="128016" cy="128016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828032" y="1687068"/>
            <a:ext cx="128016" cy="128016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514600" y="182880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3C5FD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feature/nav-bar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257800" y="1737360"/>
            <a:ext cx="27432" cy="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230368" y="1362456"/>
            <a:ext cx="27432" cy="37490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794760" y="1362456"/>
            <a:ext cx="27432" cy="832104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794760" y="2194560"/>
            <a:ext cx="3474720" cy="27432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645152" y="2144268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559552" y="2144268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473952" y="2144268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611880" y="228600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86EFA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feature/api-layer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242048" y="1362456"/>
            <a:ext cx="27432" cy="832104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246120" y="144475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93C5FD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Agent 1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440680" y="190195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86EFA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Agent 2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02920" y="2926080"/>
            <a:ext cx="2639568" cy="1005840"/>
          </a:xfrm>
          <a:prstGeom prst="rect">
            <a:avLst/>
          </a:prstGeom>
          <a:solidFill>
            <a:srgbClr val="232838"/>
          </a:solidFill>
          <a:ln w="6350">
            <a:solidFill>
              <a:srgbClr val="3A405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12648" y="2999232"/>
            <a:ext cx="2420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Branches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12648" y="3255264"/>
            <a:ext cx="242011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B0B8C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Parallel timelines. Each branch is an isolated copy. Changes on one branch don't affect another until you merge.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252216" y="2926080"/>
            <a:ext cx="2639568" cy="1005840"/>
          </a:xfrm>
          <a:prstGeom prst="rect">
            <a:avLst/>
          </a:prstGeom>
          <a:solidFill>
            <a:srgbClr val="232838"/>
          </a:solidFill>
          <a:ln w="6350">
            <a:solidFill>
              <a:srgbClr val="3A405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361944" y="2999232"/>
            <a:ext cx="2420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Worktrees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3361944" y="3255264"/>
            <a:ext cx="242011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B0B8C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Multiple working directories from one repo. Each agent gets its own folder — no file conflicts, true parallel work.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111240" y="2999232"/>
            <a:ext cx="2420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Merge &amp; Resolve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813548" y="3017520"/>
            <a:ext cx="7178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1A1F2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SESSION 3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111240" y="3255264"/>
            <a:ext cx="242011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B0B8C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When agents finish, Git merges their work. Conflicts? The orchestrator or a dedicated agent resolves them.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502920" y="4069080"/>
            <a:ext cx="8138160" cy="347472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685800" y="406908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A1F2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Today: one agent, one branch. Session 3: multiple agents, multiple branches, true parallel development.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828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Is — And What It Isn’t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777240"/>
            <a:ext cx="3977640" cy="32918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 ✓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777240"/>
            <a:ext cx="3977640" cy="329184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663440" y="777240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NOT  ✗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207008"/>
            <a:ext cx="3977640" cy="475488"/>
          </a:xfrm>
          <a:prstGeom prst="rect">
            <a:avLst/>
          </a:prstGeom>
          <a:solidFill>
            <a:srgbClr val="F7F8FA"/>
          </a:solidFill>
          <a:ln w="12700">
            <a:solidFill>
              <a:srgbClr val="E4E7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44168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1207008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lite version of the full workflow — fast path to MVP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663440" y="1207008"/>
            <a:ext cx="3977640" cy="475488"/>
          </a:xfrm>
          <a:prstGeom prst="rect">
            <a:avLst/>
          </a:prstGeom>
          <a:solidFill>
            <a:srgbClr val="F7F8FA"/>
          </a:solidFill>
          <a:ln w="12700">
            <a:solidFill>
              <a:srgbClr val="E4E7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344168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74920" y="1207008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lifecycle — that’s Session 3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02920" y="1746504"/>
            <a:ext cx="3977640" cy="475488"/>
          </a:xfrm>
          <a:prstGeom prst="rect">
            <a:avLst/>
          </a:prstGeom>
          <a:solidFill>
            <a:srgbClr val="F7F8FA"/>
          </a:solidFill>
          <a:ln w="12700">
            <a:solidFill>
              <a:srgbClr val="E4E7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83664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4400" y="1746504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for you to replicate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663440" y="1746504"/>
            <a:ext cx="3977640" cy="475488"/>
          </a:xfrm>
          <a:prstGeom prst="rect">
            <a:avLst/>
          </a:prstGeom>
          <a:solidFill>
            <a:srgbClr val="F7F8FA"/>
          </a:solidFill>
          <a:ln w="12700">
            <a:solidFill>
              <a:srgbClr val="E4E7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883664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074920" y="1746504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orchestration — also Session 3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02920" y="2286000"/>
            <a:ext cx="3977640" cy="475488"/>
          </a:xfrm>
          <a:prstGeom prst="rect">
            <a:avLst/>
          </a:prstGeom>
          <a:solidFill>
            <a:srgbClr val="F7F8FA"/>
          </a:solidFill>
          <a:ln w="12700">
            <a:solidFill>
              <a:srgbClr val="E4E7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23160"/>
            <a:ext cx="201168" cy="20116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14400" y="228600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AI as development team, not chatbot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4663440" y="2286000"/>
            <a:ext cx="3977640" cy="475488"/>
          </a:xfrm>
          <a:prstGeom prst="rect">
            <a:avLst/>
          </a:prstGeom>
          <a:solidFill>
            <a:srgbClr val="F7F8FA"/>
          </a:solidFill>
          <a:ln w="12700">
            <a:solidFill>
              <a:srgbClr val="E4E7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423160"/>
            <a:ext cx="201168" cy="20116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074920" y="228600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production deployment walkthrough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502920" y="2825496"/>
            <a:ext cx="3977640" cy="475488"/>
          </a:xfrm>
          <a:prstGeom prst="rect">
            <a:avLst/>
          </a:prstGeom>
          <a:solidFill>
            <a:srgbClr val="F7F8FA"/>
          </a:solidFill>
          <a:ln w="12700">
            <a:solidFill>
              <a:srgbClr val="E4E7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62656"/>
            <a:ext cx="201168" cy="20116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914400" y="2825496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reusable methodology — yours to copy</a:t>
            </a:r>
            <a:endParaRPr lang="en-US" sz="1300" dirty="0"/>
          </a:p>
        </p:txBody>
      </p:sp>
      <p:sp>
        <p:nvSpPr>
          <p:cNvPr id="29" name="Shape 20"/>
          <p:cNvSpPr/>
          <p:nvPr/>
        </p:nvSpPr>
        <p:spPr>
          <a:xfrm>
            <a:off x="4663440" y="2825496"/>
            <a:ext cx="3977640" cy="475488"/>
          </a:xfrm>
          <a:prstGeom prst="rect">
            <a:avLst/>
          </a:prstGeom>
          <a:solidFill>
            <a:srgbClr val="F7F8FA"/>
          </a:solidFill>
          <a:ln w="12700">
            <a:solidFill>
              <a:srgbClr val="E4E7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962656"/>
            <a:ext cx="201168" cy="201168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5074920" y="2825496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Something you just watch</a:t>
            </a:r>
            <a:endParaRPr lang="en-US" sz="1300" dirty="0"/>
          </a:p>
        </p:txBody>
      </p:sp>
      <p:sp>
        <p:nvSpPr>
          <p:cNvPr id="32" name="Shape 22"/>
          <p:cNvSpPr/>
          <p:nvPr/>
        </p:nvSpPr>
        <p:spPr>
          <a:xfrm>
            <a:off x="502920" y="3657600"/>
            <a:ext cx="8138160" cy="893428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3"/>
          <p:cNvSpPr/>
          <p:nvPr/>
        </p:nvSpPr>
        <p:spPr>
          <a:xfrm>
            <a:off x="740664" y="385876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concept to working MVP.  </a:t>
            </a:r>
          </a:p>
          <a:p>
            <a:pPr marL="0" indent="0" algn="ctr">
              <a:buNone/>
            </a:pPr>
            <a:endParaRPr lang="en-US" sz="1350" b="1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3: multi-agent builds, iteration cycles, and cloud deployment.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371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10-Phase Lifecycle — Where Today Fits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1 introduced this framework. Today we run a lite version to get you to MVP fast.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530991"/>
            <a:ext cx="3977640" cy="365760"/>
          </a:xfrm>
          <a:prstGeom prst="rect">
            <a:avLst/>
          </a:prstGeom>
          <a:solidFill>
            <a:srgbClr val="252B3D"/>
          </a:solidFill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57784" y="1530991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3C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530991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 Setup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0" y="1530991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init + basics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663440" y="1530991"/>
            <a:ext cx="3977640" cy="365760"/>
          </a:xfrm>
          <a:prstGeom prst="rect">
            <a:avLst/>
          </a:prstGeom>
          <a:solidFill>
            <a:srgbClr val="252B3D"/>
          </a:solidFill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18304" y="1530991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3C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530991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Brainstorming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635240" y="1530991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Condensed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02920" y="1951615"/>
            <a:ext cx="3977640" cy="365760"/>
          </a:xfrm>
          <a:prstGeom prst="rect">
            <a:avLst/>
          </a:prstGeom>
          <a:solidFill>
            <a:srgbClr val="252B3D"/>
          </a:solidFill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57784" y="1951615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3C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1951615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Research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74720" y="1951615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Abbreviated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63440" y="1951615"/>
            <a:ext cx="3977640" cy="365760"/>
          </a:xfrm>
          <a:prstGeom prst="rect">
            <a:avLst/>
          </a:prstGeom>
          <a:solidFill>
            <a:srgbClr val="252B3D"/>
          </a:solidFill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18304" y="1951615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3C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1951615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Session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635240" y="1951615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Stories + Reqs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02920" y="2372239"/>
            <a:ext cx="3977640" cy="365760"/>
          </a:xfrm>
          <a:prstGeom prst="rect">
            <a:avLst/>
          </a:prstGeom>
          <a:solidFill>
            <a:srgbClr val="252B3D"/>
          </a:solidFill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57784" y="2372239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3C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2372239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Prototype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74720" y="2372239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execution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663440" y="2372239"/>
            <a:ext cx="3977640" cy="365760"/>
          </a:xfrm>
          <a:prstGeom prst="rect">
            <a:avLst/>
          </a:prstGeom>
          <a:solidFill>
            <a:srgbClr val="252B3D"/>
          </a:solidFill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18304" y="2372239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3C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0" y="2372239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635240" y="2372239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into process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02920" y="2792863"/>
            <a:ext cx="3977640" cy="365760"/>
          </a:xfrm>
          <a:prstGeom prst="rect">
            <a:avLst/>
          </a:prstGeom>
          <a:solidFill>
            <a:srgbClr val="252B3D"/>
          </a:solidFill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57784" y="2792863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3C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68680" y="2792863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 Creation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474720" y="2792863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source of truth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663440" y="2792863"/>
            <a:ext cx="3977640" cy="365760"/>
          </a:xfrm>
          <a:prstGeom prst="rect">
            <a:avLst/>
          </a:prstGeom>
          <a:solidFill>
            <a:srgbClr val="252B3D"/>
          </a:solidFill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18304" y="2792863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3C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029200" y="2792863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Execution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635240" y="2792863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+ Mission Brief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02920" y="3213487"/>
            <a:ext cx="3977640" cy="365760"/>
          </a:xfrm>
          <a:prstGeom prst="rect">
            <a:avLst/>
          </a:prstGeom>
          <a:solidFill>
            <a:srgbClr val="1A1F2E"/>
          </a:solidFill>
          <a:ln w="6350">
            <a:solidFill>
              <a:srgbClr val="3A4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57784" y="3213487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68680" y="3213487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Cycle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474720" y="3213487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3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663440" y="3213487"/>
            <a:ext cx="3977640" cy="365760"/>
          </a:xfrm>
          <a:prstGeom prst="rect">
            <a:avLst/>
          </a:prstGeom>
          <a:solidFill>
            <a:srgbClr val="1A1F2E"/>
          </a:solidFill>
          <a:ln w="6350">
            <a:solidFill>
              <a:srgbClr val="3A4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718303" y="3213487"/>
            <a:ext cx="38639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029200" y="3213487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635240" y="3213487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3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02920" y="3725551"/>
            <a:ext cx="164592" cy="164592"/>
          </a:xfrm>
          <a:prstGeom prst="rect">
            <a:avLst/>
          </a:prstGeom>
          <a:solidFill>
            <a:srgbClr val="252B3D"/>
          </a:solidFill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22376" y="3725551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— Lite Build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063240" y="3725551"/>
            <a:ext cx="164592" cy="164592"/>
          </a:xfrm>
          <a:prstGeom prst="rect">
            <a:avLst/>
          </a:prstGeom>
          <a:solidFill>
            <a:srgbClr val="1A1F2E"/>
          </a:solidFill>
          <a:ln w="6350">
            <a:solidFill>
              <a:srgbClr val="3A4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282696" y="3725551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3 — Advanced + Deploy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8 Phases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3995928" cy="256032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3995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645152" y="749808"/>
            <a:ext cx="3995928" cy="256032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645152" y="749808"/>
            <a:ext cx="3995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PROCESS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05256" y="1097280"/>
            <a:ext cx="3593592" cy="438912"/>
          </a:xfrm>
          <a:prstGeom prst="rect">
            <a:avLst/>
          </a:prstGeom>
          <a:solidFill>
            <a:srgbClr val="252B3D"/>
          </a:solidFill>
          <a:ln w="6350">
            <a:solidFill>
              <a:srgbClr val="3A4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2920" y="1097280"/>
            <a:ext cx="384048" cy="438912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097280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24128" y="1097280"/>
            <a:ext cx="2971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 &amp; Research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58768" y="1097280"/>
            <a:ext cx="594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5256" y="1609344"/>
            <a:ext cx="3593592" cy="438912"/>
          </a:xfrm>
          <a:prstGeom prst="rect">
            <a:avLst/>
          </a:prstGeom>
          <a:solidFill>
            <a:srgbClr val="252B3D"/>
          </a:solidFill>
          <a:ln w="6350">
            <a:solidFill>
              <a:srgbClr val="3A4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2920" y="1609344"/>
            <a:ext cx="384048" cy="438912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1609344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24128" y="1609344"/>
            <a:ext cx="2971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Brainstorm &amp; Define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58768" y="1609344"/>
            <a:ext cx="594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05256" y="2121408"/>
            <a:ext cx="3593592" cy="438912"/>
          </a:xfrm>
          <a:prstGeom prst="rect">
            <a:avLst/>
          </a:prstGeom>
          <a:solidFill>
            <a:srgbClr val="252B3D"/>
          </a:solidFill>
          <a:ln w="6350">
            <a:solidFill>
              <a:srgbClr val="3A4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02920" y="2121408"/>
            <a:ext cx="384048" cy="438912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2121408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24128" y="2121408"/>
            <a:ext cx="2971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Stories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95928" y="2121408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7m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05256" y="2633472"/>
            <a:ext cx="3593592" cy="438912"/>
          </a:xfrm>
          <a:prstGeom prst="rect">
            <a:avLst/>
          </a:prstGeom>
          <a:solidFill>
            <a:srgbClr val="252B3D"/>
          </a:solidFill>
          <a:ln w="6350">
            <a:solidFill>
              <a:srgbClr val="3A4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02920" y="2633472"/>
            <a:ext cx="384048" cy="438912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2633472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024128" y="2633472"/>
            <a:ext cx="2971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AC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995928" y="2633472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7m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47488" y="1097280"/>
            <a:ext cx="3593592" cy="438912"/>
          </a:xfrm>
          <a:prstGeom prst="rect">
            <a:avLst/>
          </a:prstGeom>
          <a:solidFill>
            <a:srgbClr val="252B3D"/>
          </a:solidFill>
          <a:ln w="6350">
            <a:solidFill>
              <a:srgbClr val="3A4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45152" y="1097280"/>
            <a:ext cx="384048" cy="438912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645152" y="1097280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166360" y="1097280"/>
            <a:ext cx="2971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138160" y="1097280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7m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047488" y="1609344"/>
            <a:ext cx="3593592" cy="438912"/>
          </a:xfrm>
          <a:prstGeom prst="rect">
            <a:avLst/>
          </a:prstGeom>
          <a:solidFill>
            <a:srgbClr val="252B3D"/>
          </a:solidFill>
          <a:ln w="6350">
            <a:solidFill>
              <a:srgbClr val="3A4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645152" y="1609344"/>
            <a:ext cx="384048" cy="438912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645152" y="1609344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5166360" y="1609344"/>
            <a:ext cx="2971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Planning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138160" y="1609344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7m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047488" y="2121408"/>
            <a:ext cx="3593592" cy="438912"/>
          </a:xfrm>
          <a:prstGeom prst="rect">
            <a:avLst/>
          </a:prstGeom>
          <a:solidFill>
            <a:srgbClr val="252B3D"/>
          </a:solidFill>
          <a:ln w="6350">
            <a:solidFill>
              <a:srgbClr val="3A4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645152" y="2121408"/>
            <a:ext cx="384048" cy="438912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645152" y="2121408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5166360" y="2121408"/>
            <a:ext cx="2971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Brief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138160" y="2121408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5m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02920" y="3218688"/>
            <a:ext cx="8138160" cy="219456"/>
          </a:xfrm>
          <a:prstGeom prst="rect">
            <a:avLst/>
          </a:prstGeom>
          <a:solidFill>
            <a:srgbClr val="252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02920" y="3218688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905256" y="3511296"/>
            <a:ext cx="7735824" cy="438912"/>
          </a:xfrm>
          <a:prstGeom prst="rect">
            <a:avLst/>
          </a:prstGeom>
          <a:solidFill>
            <a:srgbClr val="C9A227"/>
          </a:solidFill>
          <a:ln w="6350">
            <a:solidFill>
              <a:srgbClr val="3A4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02920" y="3511296"/>
            <a:ext cx="384048" cy="438912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02920" y="3511296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1024128" y="3511296"/>
            <a:ext cx="7114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— Watch It Build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8138160" y="3511296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17m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371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Context Chain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document reinforces the last. Context stacking reduces drift and hallucination.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08660" y="841248"/>
            <a:ext cx="1828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D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45820" y="1293876"/>
            <a:ext cx="329184" cy="32918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" y="1367028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57300" y="97840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RESEARCH.md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257300" y="1298448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+ API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537460" y="1348740"/>
            <a:ext cx="137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674620" y="841248"/>
            <a:ext cx="1828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D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811780" y="1293876"/>
            <a:ext cx="329184" cy="32918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4932" y="1367028"/>
            <a:ext cx="182880" cy="1828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086101" y="97840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BRAINSTORM.md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3223260" y="1298448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&amp; approach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503420" y="1348740"/>
            <a:ext cx="137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640580" y="841248"/>
            <a:ext cx="1828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D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777740" y="1293876"/>
            <a:ext cx="329184" cy="32918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0892" y="1367028"/>
            <a:ext cx="182880" cy="1828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033772" y="978408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USER_STORIES.md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5189220" y="1298448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Persona-first capabilities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469380" y="1348740"/>
            <a:ext cx="137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6606540" y="841248"/>
            <a:ext cx="1828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D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743700" y="1293876"/>
            <a:ext cx="329184" cy="32918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6852" y="1367028"/>
            <a:ext cx="182880" cy="1828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929306" y="978408"/>
            <a:ext cx="13688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REQUIREMENTS.md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7155180" y="1298448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Testable criteria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1691640" y="2240280"/>
            <a:ext cx="182880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1828800" y="2692908"/>
            <a:ext cx="329184" cy="329184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1952" y="2766060"/>
            <a:ext cx="182880" cy="1828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2240280" y="237744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PRD.md</a:t>
            </a:r>
            <a:endParaRPr lang="en-US" sz="950" dirty="0"/>
          </a:p>
        </p:txBody>
      </p:sp>
      <p:sp>
        <p:nvSpPr>
          <p:cNvPr id="32" name="Text 25"/>
          <p:cNvSpPr/>
          <p:nvPr/>
        </p:nvSpPr>
        <p:spPr>
          <a:xfrm>
            <a:off x="2240280" y="2697480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source of truth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3520440" y="2747772"/>
            <a:ext cx="137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3657600" y="2240280"/>
            <a:ext cx="1828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D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8"/>
          <p:cNvSpPr/>
          <p:nvPr/>
        </p:nvSpPr>
        <p:spPr>
          <a:xfrm>
            <a:off x="3794760" y="2692908"/>
            <a:ext cx="329184" cy="32918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67912" y="2766060"/>
            <a:ext cx="182880" cy="18288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4206240" y="237744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SPRINTS.md</a:t>
            </a:r>
            <a:endParaRPr lang="en-US" sz="950" dirty="0"/>
          </a:p>
        </p:txBody>
      </p:sp>
      <p:sp>
        <p:nvSpPr>
          <p:cNvPr id="38" name="Text 30"/>
          <p:cNvSpPr/>
          <p:nvPr/>
        </p:nvSpPr>
        <p:spPr>
          <a:xfrm>
            <a:off x="4206240" y="2697480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packages</a:t>
            </a:r>
            <a:endParaRPr lang="en-US" sz="1000" dirty="0"/>
          </a:p>
        </p:txBody>
      </p:sp>
      <p:sp>
        <p:nvSpPr>
          <p:cNvPr id="39" name="Text 31"/>
          <p:cNvSpPr/>
          <p:nvPr/>
        </p:nvSpPr>
        <p:spPr>
          <a:xfrm>
            <a:off x="5486400" y="2747772"/>
            <a:ext cx="137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5623560" y="2240280"/>
            <a:ext cx="182880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C9A227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3"/>
          <p:cNvSpPr/>
          <p:nvPr/>
        </p:nvSpPr>
        <p:spPr>
          <a:xfrm>
            <a:off x="5760720" y="2692908"/>
            <a:ext cx="329184" cy="32918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33872" y="2766060"/>
            <a:ext cx="182880" cy="18288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6035040" y="23774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ORCHESTRATOR.md</a:t>
            </a:r>
            <a:endParaRPr lang="en-US" sz="800" dirty="0"/>
          </a:p>
        </p:txBody>
      </p:sp>
      <p:sp>
        <p:nvSpPr>
          <p:cNvPr id="44" name="Text 35"/>
          <p:cNvSpPr/>
          <p:nvPr/>
        </p:nvSpPr>
        <p:spPr>
          <a:xfrm>
            <a:off x="6172200" y="2697480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Mission Brief</a:t>
            </a:r>
            <a:endParaRPr lang="en-US" sz="1000" dirty="0"/>
          </a:p>
        </p:txBody>
      </p:sp>
      <p:sp>
        <p:nvSpPr>
          <p:cNvPr id="45" name="Text 36"/>
          <p:cNvSpPr/>
          <p:nvPr/>
        </p:nvSpPr>
        <p:spPr>
          <a:xfrm>
            <a:off x="7383780" y="2075688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100" dirty="0"/>
          </a:p>
        </p:txBody>
      </p:sp>
      <p:sp>
        <p:nvSpPr>
          <p:cNvPr id="46" name="Shape 37"/>
          <p:cNvSpPr/>
          <p:nvPr/>
        </p:nvSpPr>
        <p:spPr>
          <a:xfrm>
            <a:off x="502920" y="3611880"/>
            <a:ext cx="8138160" cy="384048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38"/>
          <p:cNvSpPr/>
          <p:nvPr/>
        </p:nvSpPr>
        <p:spPr>
          <a:xfrm>
            <a:off x="685800" y="361188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doc reinforces the last.   PRD = single source of truth.   Mission Brief governs execution.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371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Mission Brief — ORCHESTRATOR.md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document that turns Claude Code from a chatbot into a governed process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10 RULES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39496" y="1152144"/>
            <a:ext cx="228600" cy="22860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9496" y="115214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50392" y="1115568"/>
            <a:ext cx="44622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PRD.md first — always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9496" y="1481328"/>
            <a:ext cx="228600" cy="22860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39496" y="1481328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50392" y="1444752"/>
            <a:ext cx="44622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SPRINTS.md, know the scope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9496" y="1810512"/>
            <a:ext cx="228600" cy="22860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9496" y="181051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50392" y="1773936"/>
            <a:ext cx="44622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sprints in order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9496" y="2139696"/>
            <a:ext cx="228600" cy="22860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9496" y="213969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50392" y="2103120"/>
            <a:ext cx="44622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only what the sprint lists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2432304"/>
            <a:ext cx="4846320" cy="301752"/>
          </a:xfrm>
          <a:prstGeom prst="rect">
            <a:avLst/>
          </a:prstGeom>
          <a:solidFill>
            <a:srgbClr val="252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39496" y="2468880"/>
            <a:ext cx="228600" cy="2286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39496" y="24688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50392" y="2432304"/>
            <a:ext cx="44622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app after each sprint — confirm it starts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9496" y="2798064"/>
            <a:ext cx="228600" cy="22860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9496" y="279806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50392" y="2761488"/>
            <a:ext cx="44622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all acceptance criteria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3090672"/>
            <a:ext cx="4846320" cy="301752"/>
          </a:xfrm>
          <a:prstGeom prst="rect">
            <a:avLst/>
          </a:prstGeom>
          <a:solidFill>
            <a:srgbClr val="252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39496" y="3127248"/>
            <a:ext cx="228600" cy="2286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39496" y="3127248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50392" y="3090672"/>
            <a:ext cx="44622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add -A &amp;&amp; git commit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39496" y="3456432"/>
            <a:ext cx="228600" cy="22860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39496" y="345643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50392" y="3419856"/>
            <a:ext cx="44622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then advance to next sprint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2920" y="3749040"/>
            <a:ext cx="4846320" cy="301752"/>
          </a:xfrm>
          <a:prstGeom prst="rect">
            <a:avLst/>
          </a:prstGeom>
          <a:solidFill>
            <a:srgbClr val="252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39496" y="3785616"/>
            <a:ext cx="228600" cy="2286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39496" y="378561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50392" y="3749040"/>
            <a:ext cx="44622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skip a commit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39496" y="4114800"/>
            <a:ext cx="228600" cy="22860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39496" y="41148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50392" y="4078224"/>
            <a:ext cx="44622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end-to-end test after all sprints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623560" y="841248"/>
            <a:ext cx="3520440" cy="164592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788152" y="841248"/>
            <a:ext cx="3191256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“When you hand an agent a Mission Brief, you’re not prompting — you’re managing.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That’s a different skill.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21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it’s the skill that scales.”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623560" y="2651760"/>
            <a:ext cx="3520440" cy="219456"/>
          </a:xfrm>
          <a:prstGeom prst="rect">
            <a:avLst/>
          </a:prstGeom>
          <a:solidFill>
            <a:srgbClr val="2D35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623560" y="2651760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PROMPTING  vs.  MANAGING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623560" y="2962656"/>
            <a:ext cx="3520440" cy="777240"/>
          </a:xfrm>
          <a:prstGeom prst="rect">
            <a:avLst/>
          </a:prstGeom>
          <a:solidFill>
            <a:srgbClr val="252B3D"/>
          </a:solidFill>
          <a:ln w="6350">
            <a:solidFill>
              <a:srgbClr val="3A4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760720" y="2962656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PROMPTING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task → one response → done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623560" y="3840480"/>
            <a:ext cx="3520440" cy="777240"/>
          </a:xfrm>
          <a:prstGeom prst="rect">
            <a:avLst/>
          </a:prstGeom>
          <a:solidFill>
            <a:srgbClr val="252B3D"/>
          </a:solidFill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760720" y="384048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Gates + reviews + commits + criteria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457200"/>
            <a:ext cx="1188720" cy="118872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920240" y="457200"/>
            <a:ext cx="6720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Orient &amp; Research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920240" y="1143000"/>
            <a:ext cx="777240" cy="292608"/>
          </a:xfrm>
          <a:prstGeom prst="rect">
            <a:avLst/>
          </a:prstGeom>
          <a:solidFill>
            <a:srgbClr val="252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920240" y="114300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34640" y="11430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OF 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874520"/>
            <a:ext cx="8138160" cy="1298986"/>
          </a:xfrm>
          <a:prstGeom prst="rect">
            <a:avLst/>
          </a:prstGeom>
          <a:solidFill>
            <a:srgbClr val="252B3D"/>
          </a:solidFill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194767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POINT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85800" y="216712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We’re reloading the agent with current information about the type of app we’re building — not relying on training data alone. This is context engineering: grounding the model in verified, up-to-date facts before it makes any decisions.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3429673"/>
            <a:ext cx="8138160" cy="868680"/>
          </a:xfrm>
          <a:prstGeom prst="rect">
            <a:avLst/>
          </a:prstGeom>
          <a:solidFill>
            <a:srgbClr val="252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3502825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A8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MOMENT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" y="3722281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the terminal. It’s reading documentation and exploring APIs before it writes a single line. Research shows that context-grounded models hallucinate dramatically less than ungrounded ones.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1215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0" y="5006340"/>
            <a:ext cx="1143000" cy="13716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182880"/>
            <a:ext cx="384048" cy="38404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828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96696" y="182880"/>
            <a:ext cx="7644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Tips: Orient &amp; Research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A8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TRY THIS AT HOME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914400"/>
            <a:ext cx="8138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12648" y="1051560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12648" y="10515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96012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the AI what kind of app you’re building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15214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specific about the domain, target users, and tech stack. The more context you provide upfront, the less you’ll correct later.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1554480"/>
            <a:ext cx="8138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2648" y="1691640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2648" y="16916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160020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it at real documentation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179222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links to API docs, style guides, or existing code. Don’t let it rely on training data alone — give it current sources.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2194560"/>
            <a:ext cx="8138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2648" y="2331720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2648" y="23317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224028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your constraints early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243230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Budget, timeline, platform, security requirements. The agent will factor these into every decision downstream.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2834640"/>
            <a:ext cx="8138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12648" y="2971800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12648" y="2971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5840" y="288036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it to summarize what it learned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" y="307238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it write RESEARCH.md as a deliverable. If the summary is wrong, you caught a hallucination before it compounds.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3493008"/>
            <a:ext cx="8138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A8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VOICE PROMPT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02920" y="3675888"/>
            <a:ext cx="8138160" cy="1421892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85800" y="3675888"/>
            <a:ext cx="7772400" cy="1421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E3C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“Research the Azure OpenAI API for building a policy plain language converter. Read the .env file for our endpoint and deployment name. Document the API format, rate limits, and best practices for system prompts. Save everything to RESEARCH.md.”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457200"/>
            <a:ext cx="1188720" cy="118872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920240" y="457200"/>
            <a:ext cx="6720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Brainstorm &amp; Define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920240" y="1143000"/>
            <a:ext cx="777240" cy="292608"/>
          </a:xfrm>
          <a:prstGeom prst="rect">
            <a:avLst/>
          </a:prstGeom>
          <a:solidFill>
            <a:srgbClr val="252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920240" y="114300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34640" y="11430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OF 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874520"/>
            <a:ext cx="8138160" cy="1319156"/>
          </a:xfrm>
          <a:prstGeom prst="rect">
            <a:avLst/>
          </a:prstGeom>
          <a:solidFill>
            <a:srgbClr val="252B3D"/>
          </a:solidFill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194767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POINT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85800" y="216712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where non-developers get to participate in plain language. Discuss features, define direction, describe users, and set what success looks like — all without writing a line of code. The AI collaborates on the feature set.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3509010"/>
            <a:ext cx="8138160" cy="868680"/>
          </a:xfrm>
          <a:prstGeom prst="rect">
            <a:avLst/>
          </a:prstGeom>
          <a:solidFill>
            <a:srgbClr val="252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358216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A8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MOMENT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" y="380161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about what this app should do. What would success look like for your team? [Take one answer.] That’s now in the context. The AI heard you and will carry that forward through every document.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1215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0" y="5006340"/>
            <a:ext cx="2286000" cy="13716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182880"/>
            <a:ext cx="384048" cy="38404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828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96696" y="182880"/>
            <a:ext cx="7644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Tips: Brainstorm &amp; Define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A8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TRY THIS AT HOME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914400"/>
            <a:ext cx="8138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12648" y="1051560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12648" y="10515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99374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your users in plain language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15214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are they? What’s their day like? What frustrates them? You don’t need to be technical — the AI translates intent into features.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1554480"/>
            <a:ext cx="8138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2648" y="1691640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2648" y="16916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165063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what success looks like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179222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the AI: ‘This app is successful when X happens.’ A clear success metric steers every design decision.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2194560"/>
            <a:ext cx="8138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2648" y="2331720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2648" y="23317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2283986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the AI suggest features — then prune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243230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for 10 ideas, keep 5. Scope discipline is critical. Cutting features is as important as adding them.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2834640"/>
            <a:ext cx="8138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12648" y="2971800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12648" y="2971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5840" y="291398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it read RESEARCH.md first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" y="307238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reference prior documents. Say ‘Read RESEARCH.md, then brainstorm features.’ This is how you stack context.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3493008"/>
            <a:ext cx="8138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A8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VOICE PROMPT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02920" y="3675888"/>
            <a:ext cx="8138160" cy="1421892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85800" y="3675888"/>
            <a:ext cx="7772400" cy="1421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E3C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“Read RESEARCH.md. Now let’s brainstorm features for our policy converter. The users are public health staff who need to translate dense policy documents into plain language. Success means a non-expert can understand the output on first read. Give me 10 feature ideas, then we’ll narrow down.”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457200"/>
            <a:ext cx="1188720" cy="118872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920240" y="457200"/>
            <a:ext cx="6720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Stories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920240" y="1143000"/>
            <a:ext cx="777240" cy="292608"/>
          </a:xfrm>
          <a:prstGeom prst="rect">
            <a:avLst/>
          </a:prstGeom>
          <a:solidFill>
            <a:srgbClr val="252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920240" y="114300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34640" y="11430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OF 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874519"/>
            <a:ext cx="8138160" cy="1342689"/>
          </a:xfrm>
          <a:prstGeom prst="rect">
            <a:avLst/>
          </a:prstGeom>
          <a:solidFill>
            <a:srgbClr val="252B3D"/>
          </a:solidFill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194767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POINT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85800" y="216712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that brainstorm, the AI now synthesizes user stories because they directly feed into requirements. We’re building foundational context and steering the process through reinforcement. Each document reinforces the last.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3587678"/>
            <a:ext cx="8138160" cy="868680"/>
          </a:xfrm>
          <a:prstGeom prst="rect">
            <a:avLst/>
          </a:prstGeom>
          <a:solidFill>
            <a:srgbClr val="252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366083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A8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MOMENT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" y="3880286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 it reads both RESEARCH and BRAINSTORM before writing a single story. That’s the context chain working. Multiple reinforcements through documents keeps the model on track and reduces drift.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1215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0" y="5006340"/>
            <a:ext cx="3429000" cy="13716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182880"/>
            <a:ext cx="384048" cy="38404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828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96696" y="182880"/>
            <a:ext cx="7644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Tips: User Stories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A8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TRY THIS AT HOME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914400"/>
            <a:ext cx="8138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12648" y="1051560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12648" y="10515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96012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it to read all prior documents first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07818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‘Read RESEARCH.md and BRAINSTORM.md.’ Each reinforcement reduces drift. The AI synthesizes better when it has full context.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1554480"/>
            <a:ext cx="8138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2648" y="1691640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2648" y="16916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160020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standard format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175860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‘As a [user type], I want to [action] so that [outcome].’ This format forces user-centric thinking, not developer-centric.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2194560"/>
            <a:ext cx="8138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2648" y="2331720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2648" y="23317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224028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edge cases and non-happy paths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232809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‘What happens when the input is too long? When the API is down?’ Stories that cover failure modes produce better requirements.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2831278"/>
            <a:ext cx="8138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12648" y="2971800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12648" y="2971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5840" y="288036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stories small and testable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" y="307238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story should be one thing a user can do. If it has ‘and’ in it, split it into two stories.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3493008"/>
            <a:ext cx="8138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A8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VOICE PROMPT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02920" y="3675888"/>
            <a:ext cx="8138160" cy="1421892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85800" y="3675888"/>
            <a:ext cx="7772400" cy="1421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E3C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“Read RESEARCH.md and BRAINSTORM.md. Based on the features we defined, write user stories for the policy converter. Use the format: As a [role], I want to [action] so that [outcome]. Include edge cases like long documents and API failures. Save to USER_STORIES.md.”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457200"/>
            <a:ext cx="1188720" cy="118872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920240" y="457200"/>
            <a:ext cx="6720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Requirements &amp; AC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920240" y="1143000"/>
            <a:ext cx="777240" cy="292608"/>
          </a:xfrm>
          <a:prstGeom prst="rect">
            <a:avLst/>
          </a:prstGeom>
          <a:solidFill>
            <a:srgbClr val="252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920240" y="114300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34640" y="11430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OF 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874520"/>
            <a:ext cx="8138160" cy="1005840"/>
          </a:xfrm>
          <a:prstGeom prst="rect">
            <a:avLst/>
          </a:prstGeom>
          <a:solidFill>
            <a:srgbClr val="252B3D"/>
          </a:solidFill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194767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POINT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85800" y="216712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Acceptance criteria define ‘done.’ AI agents can’t interpret ‘easy’ or ’fast’ — they need testable conditions. This helps the AI build tests, understand when it’s completed something, and makes it far less likely to build stubs.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3063240"/>
            <a:ext cx="8138160" cy="868680"/>
          </a:xfrm>
          <a:prstGeom prst="rect">
            <a:avLst/>
          </a:prstGeom>
          <a:solidFill>
            <a:srgbClr val="252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31363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A8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MOMENT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" y="335584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at one of those acceptance criteria. A non-developer can read it and tell you if the feature works. When the AI knows what ‘done’ looks like, it builds to that standard instead of guessing.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1215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0" y="5006340"/>
            <a:ext cx="4572000" cy="13716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182880"/>
            <a:ext cx="384048" cy="38404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828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96696" y="182880"/>
            <a:ext cx="7644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Tips: Requirements &amp; AC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A8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TRY THIS AT HOME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914400"/>
            <a:ext cx="8138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12648" y="1051560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12648" y="10515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96012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 criteria must be testable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15214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‘it should be fast’ but ‘response returns in under 3 seconds.’ AI agents can’t interpret vague terms — give them thresholds.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1554480"/>
            <a:ext cx="8138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2648" y="1691640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2648" y="16916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160020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requirement needs at least one AC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179222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can’t write a test for it, the AI can’t verify it built it correctly. No AC = the AI guesses when it’s done.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2194560"/>
            <a:ext cx="8138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2648" y="2331720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2648" y="23317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224028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 prevents stubs and half-built features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243230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AI knows ‘done’ means ‘clipboard copy shows success toast,’ it builds the full feature instead of a placeholder.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2834640"/>
            <a:ext cx="8138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12648" y="2971800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12648" y="2971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5840" y="288036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non-developer should be able to read every AC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" y="307238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only an engineer understands it, rewrite it. The AC is your quality gate — make it human-readable.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3493008"/>
            <a:ext cx="8138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A8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VOICE PROMPT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02920" y="3675888"/>
            <a:ext cx="8138160" cy="1421892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85800" y="3675888"/>
            <a:ext cx="7772400" cy="1421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E3C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“Read all prior documents. Convert each user story into a functional requirement with specific acceptance criteria. Every AC must be testable by a non-developer. Use clear pass/fail language. Save to REQUIREMENTS.md.”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457200"/>
            <a:ext cx="1188720" cy="118872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920240" y="457200"/>
            <a:ext cx="6720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PRD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920240" y="1143000"/>
            <a:ext cx="777240" cy="292608"/>
          </a:xfrm>
          <a:prstGeom prst="rect">
            <a:avLst/>
          </a:prstGeom>
          <a:solidFill>
            <a:srgbClr val="252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920240" y="114300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34640" y="11430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 OF 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874520"/>
            <a:ext cx="8138160" cy="1005840"/>
          </a:xfrm>
          <a:prstGeom prst="rect">
            <a:avLst/>
          </a:prstGeom>
          <a:solidFill>
            <a:srgbClr val="252B3D"/>
          </a:solidFill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194767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POINT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85800" y="216712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that foundational work means we get a dramatically better PRD. It ties everything together — research, features, stories, requirements — into a single source of truth. Every agent that runs after this reads the PRD first.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3063240"/>
            <a:ext cx="8138160" cy="868680"/>
          </a:xfrm>
          <a:prstGeom prst="rect">
            <a:avLst/>
          </a:prstGeom>
          <a:solidFill>
            <a:srgbClr val="252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31363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A8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MOMENT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" y="335584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PRD contains everything a new developer or a new AI agent needs to understand this project. No Slack thread, no tribal knowledge. McKinsey reports 16-30% productivity gains from structured AI-assisted workflows like this.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1215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0" y="5006340"/>
            <a:ext cx="5715000" cy="13716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182880"/>
            <a:ext cx="384048" cy="38404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828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96696" y="182880"/>
            <a:ext cx="7644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Tips: PRD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A8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TRY THIS AT HOME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914400"/>
            <a:ext cx="8138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12648" y="1051560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12648" y="10515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990378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it to synthesize — not repeat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15214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‘Read all prior documents and create a PRD that synthesizes them.’ You want a new document, not a copy-paste.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1554480"/>
            <a:ext cx="8138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2648" y="1691640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2648" y="16916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163382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tech stack, constraints, and non-goals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179222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strong PRD says what you’re NOT building as clearly as what you are. Non-goals prevent scope creep during execution.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2194560"/>
            <a:ext cx="8138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2648" y="2331720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2648" y="23317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227390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PRD is for both humans and AI agents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243230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it with clear headings, bullet points, and markdown. The AI will use this as its primary reference during builds.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2834640"/>
            <a:ext cx="8138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12648" y="2971800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12648" y="2971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5840" y="291398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it before moving 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" y="307238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your single source of truth. Every agent reads it first. If something is wrong here, it compounds through sprints.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3493008"/>
            <a:ext cx="8138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A8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VOICE PROMPT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02920" y="3675888"/>
            <a:ext cx="8138160" cy="1421892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85800" y="3675888"/>
            <a:ext cx="7772400" cy="1421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E3C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“Read RESEARCH.md, BRAINSTORM.md, USER_STORIES.md, and REQUIREMENTS.md. Synthesize a comprehensive PRD for the policy plain language converter. Include: overview, problem statement, goals, non-goals, user personas, technical requirements, constraints, and success metrics. Save to PRD.md.”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457200"/>
            <a:ext cx="1188720" cy="118872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920240" y="457200"/>
            <a:ext cx="6720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Planning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920240" y="1143000"/>
            <a:ext cx="777240" cy="292608"/>
          </a:xfrm>
          <a:prstGeom prst="rect">
            <a:avLst/>
          </a:prstGeom>
          <a:solidFill>
            <a:srgbClr val="252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920240" y="114300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34640" y="11430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6 OF 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874519"/>
            <a:ext cx="8138160" cy="1366221"/>
          </a:xfrm>
          <a:prstGeom prst="rect">
            <a:avLst/>
          </a:prstGeom>
          <a:solidFill>
            <a:srgbClr val="252B3D"/>
          </a:solidFill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194767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POINT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85800" y="216712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Because we have this rich suite of documentation, the sprints will be much higher quality. We’re preloading every part of execution with context. Sprint packages are designed for multi-agent workflows — each is an independent, parallelizable unit.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3483864"/>
            <a:ext cx="8138160" cy="868680"/>
          </a:xfrm>
          <a:prstGeom prst="rect">
            <a:avLst/>
          </a:prstGeom>
          <a:solidFill>
            <a:srgbClr val="252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355701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A8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MOMENT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" y="377647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defined the sprint structure ourselves — we didn’t ask the agent to decide. When you control the plan, you control the outcome. Anthropic’s 2026 report calls this ‘engineers as agent orchestrators.’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1215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0" y="5006340"/>
            <a:ext cx="6858000" cy="13716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182880"/>
            <a:ext cx="384048" cy="38404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828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96696" y="182880"/>
            <a:ext cx="7644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Tips: Sprint Planning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A8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TRY THIS AT HOME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914400"/>
            <a:ext cx="8138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12648" y="1051560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12648" y="10515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983654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the sprints yourself — don’t let the AI decide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15214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control the plan. Tell it how many sprints, what each covers, and in what order. The AI executes — you orchestrate.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1554480"/>
            <a:ext cx="8138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2648" y="1691640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2648" y="16916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1630458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sprint should be independently testable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179222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1 should produce something you can run. If it depends on Sprint 2 to work, restructure the boundaries.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2194560"/>
            <a:ext cx="8138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2648" y="2331720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2648" y="23317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2260452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acceptance criteria per sprint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243230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per feature — per sprint. This gives the agent a clear gate: ‘don’t advance until these pass.’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2834640"/>
            <a:ext cx="8138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12648" y="2971800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12648" y="2971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5840" y="2917342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for multi-agent parallel execution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" y="307238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Session 3, sprints run simultaneously across agents. Even today, structuring them independently sets you up for scale.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3493008"/>
            <a:ext cx="8138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A8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VOICE PROMPT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02920" y="3675888"/>
            <a:ext cx="8138160" cy="1421892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85800" y="3675888"/>
            <a:ext cx="7772400" cy="1421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E3C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“Read PRD.md and REQUIREMENTS.md. Create 3 sprints for building the policy converter. Sprint 1: HTML scaffold and CSS styling. Sprint 2: Express server with Azure OpenAI integration. Sprint 3: Frontend JavaScript wiring. Each sprint must have clear deliverables and acceptance criteria. Save to SPRINTS.md.”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457200"/>
            <a:ext cx="1188720" cy="118872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920240" y="457200"/>
            <a:ext cx="6720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Mission Brief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920240" y="1143000"/>
            <a:ext cx="777240" cy="292608"/>
          </a:xfrm>
          <a:prstGeom prst="rect">
            <a:avLst/>
          </a:prstGeom>
          <a:solidFill>
            <a:srgbClr val="252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920240" y="114300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34640" y="11430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7 OF 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874519"/>
            <a:ext cx="8138160" cy="1346051"/>
          </a:xfrm>
          <a:prstGeom prst="rect">
            <a:avLst/>
          </a:prstGeom>
          <a:solidFill>
            <a:srgbClr val="252B3D"/>
          </a:solidFill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194767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POINT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85800" y="216712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the document Claude will use to drive the entire development process — backed by all the documentation we’ve built. It’s all about stacking context and steering so we don’t have to babysit every step. (</a:t>
            </a:r>
            <a:r>
              <a:rPr lang="en-US" sz="1400" i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Orchestrator.md</a:t>
            </a: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3483864"/>
            <a:ext cx="8138160" cy="868680"/>
          </a:xfrm>
          <a:prstGeom prst="rect">
            <a:avLst/>
          </a:prstGeom>
          <a:solidFill>
            <a:srgbClr val="252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355701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A8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MOMENT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" y="377647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file is a process, not a prompt. Gates, reviews, commits. When it’s done, we just iterate based on feedback — what’s working, what’s not. We don’t have to manage every step because the process manages itself.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1215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0" y="5006340"/>
            <a:ext cx="8001000" cy="13716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182880"/>
            <a:ext cx="384048" cy="38404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828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96696" y="182880"/>
            <a:ext cx="7644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Tips: Mission Brief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A8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TRY THIS AT HOME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914400"/>
            <a:ext cx="8138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12648" y="1051560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12648" y="10515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99374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process document, not a prompt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15214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rules, gates, and checkpoints. The Mission Brief governs execution — it tells the AI how to work, not just what to build.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1554480"/>
            <a:ext cx="8138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2648" y="1691640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2648" y="16916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163382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include ‘run the app’ and ‘commit’ rules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179222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these, the agent will build three sprints without ever testing or saving. Rule 5 (run) and Rule 9 (commit) are non-negotiable.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2194560"/>
            <a:ext cx="8138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2648" y="2331720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2648" y="23317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2270538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every prior document by name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243230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‘Read PRD.md first. Open SPRINTS.md.’ Explicit references force the agent to load full context before acting.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2834640"/>
            <a:ext cx="8138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12648" y="2971800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12648" y="2971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5840" y="2924066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execution, you iterate — not babysit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" y="307238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Mission Brief means you don’t manage every step. When it’s done, review the output and give feedback. That’s the loop.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3493008"/>
            <a:ext cx="8138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A8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VOICE PROMPT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02920" y="3675888"/>
            <a:ext cx="8138160" cy="1421892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85800" y="3675888"/>
            <a:ext cx="7772400" cy="1421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E3C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“Read PRD.md and SPRINTS.md. Create an ORCHESTRATOR.md that governs the entire build. Rules: 1) Read PRD first, 2) Execute sprints in order, 3) Run the app after each sprint, 4) Verify acceptance criteria, 5) Git commit after each sprint, 6) Never skip a commit. Include error handling: if a test fails, fix it before advancing.”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228600"/>
            <a:ext cx="777240" cy="50292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2860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417320" y="18288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Execute — Now We Watch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417320" y="5486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MINUTES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868680"/>
            <a:ext cx="8138160" cy="365760"/>
          </a:xfrm>
          <a:prstGeom prst="rect">
            <a:avLst/>
          </a:prstGeom>
          <a:solidFill>
            <a:srgbClr val="252B3D"/>
          </a:solidFill>
          <a:ln w="12700">
            <a:solidFill>
              <a:srgbClr val="E3C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8686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“Read ORCHESTRATOR.md and begin. Follow every rule exactly. Start with Sprint One.”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353312"/>
            <a:ext cx="3995928" cy="347472"/>
          </a:xfrm>
          <a:prstGeom prst="rect">
            <a:avLst/>
          </a:prstGeom>
          <a:solidFill>
            <a:srgbClr val="252B3D"/>
          </a:solidFill>
          <a:ln w="6350">
            <a:solidFill>
              <a:srgbClr val="3A4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76072" y="1353312"/>
            <a:ext cx="1798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PRD.md first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374240" y="1353312"/>
            <a:ext cx="19979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1. North star before code.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645152" y="1353312"/>
            <a:ext cx="3995928" cy="347472"/>
          </a:xfrm>
          <a:prstGeom prst="rect">
            <a:avLst/>
          </a:prstGeom>
          <a:solidFill>
            <a:srgbClr val="252B3D"/>
          </a:solidFill>
          <a:ln w="6350">
            <a:solidFill>
              <a:srgbClr val="3A4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18304" y="1353312"/>
            <a:ext cx="1798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1 files appear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516472" y="1353312"/>
            <a:ext cx="19979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Scaffold. Style guide colors applied.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02920" y="1773936"/>
            <a:ext cx="3995928" cy="347472"/>
          </a:xfrm>
          <a:prstGeom prst="rect">
            <a:avLst/>
          </a:prstGeom>
          <a:solidFill>
            <a:srgbClr val="252B3D"/>
          </a:solidFill>
          <a:ln w="6350">
            <a:solidFill>
              <a:srgbClr val="3A4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76072" y="1773936"/>
            <a:ext cx="1798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startup attempted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374240" y="1773936"/>
            <a:ext cx="19979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5. Run before commit.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45152" y="1773936"/>
            <a:ext cx="3995928" cy="347472"/>
          </a:xfrm>
          <a:prstGeom prst="rect">
            <a:avLst/>
          </a:prstGeom>
          <a:solidFill>
            <a:srgbClr val="252B3D"/>
          </a:solidFill>
          <a:ln w="6350">
            <a:solidFill>
              <a:srgbClr val="3A4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18304" y="1773936"/>
            <a:ext cx="1798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1 commit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16472" y="1773936"/>
            <a:ext cx="19979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1 of your git log.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02920" y="2194560"/>
            <a:ext cx="3995928" cy="347472"/>
          </a:xfrm>
          <a:prstGeom prst="rect">
            <a:avLst/>
          </a:prstGeom>
          <a:solidFill>
            <a:srgbClr val="252B3D"/>
          </a:solidFill>
          <a:ln w="6350">
            <a:solidFill>
              <a:srgbClr val="3A4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76072" y="2194560"/>
            <a:ext cx="1798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2 begins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374240" y="2194560"/>
            <a:ext cx="19979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OpenAI wiring. Watch the system prompt.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645152" y="2194560"/>
            <a:ext cx="3995928" cy="347472"/>
          </a:xfrm>
          <a:prstGeom prst="rect">
            <a:avLst/>
          </a:prstGeom>
          <a:solidFill>
            <a:srgbClr val="252B3D"/>
          </a:solidFill>
          <a:ln w="6350">
            <a:solidFill>
              <a:srgbClr val="3A4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18304" y="2194560"/>
            <a:ext cx="1798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call constructed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516472" y="2194560"/>
            <a:ext cx="19979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outputs from one call.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02920" y="2615184"/>
            <a:ext cx="3995928" cy="347472"/>
          </a:xfrm>
          <a:prstGeom prst="rect">
            <a:avLst/>
          </a:prstGeom>
          <a:solidFill>
            <a:srgbClr val="252B3D"/>
          </a:solidFill>
          <a:ln w="6350">
            <a:solidFill>
              <a:srgbClr val="3A4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76072" y="2615184"/>
            <a:ext cx="1798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2 commit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374240" y="2615184"/>
            <a:ext cx="19979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commits. Two sprints done.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645152" y="2615184"/>
            <a:ext cx="3995928" cy="347472"/>
          </a:xfrm>
          <a:prstGeom prst="rect">
            <a:avLst/>
          </a:prstGeom>
          <a:solidFill>
            <a:srgbClr val="252B3D"/>
          </a:solidFill>
          <a:ln w="6350">
            <a:solidFill>
              <a:srgbClr val="3A4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18304" y="2615184"/>
            <a:ext cx="1798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3 wires frontend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516472" y="2615184"/>
            <a:ext cx="19979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→ display → clipboard.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02920" y="3035808"/>
            <a:ext cx="3995928" cy="347472"/>
          </a:xfrm>
          <a:prstGeom prst="rect">
            <a:avLst/>
          </a:prstGeom>
          <a:solidFill>
            <a:srgbClr val="252B3D"/>
          </a:solidFill>
          <a:ln w="6350">
            <a:solidFill>
              <a:srgbClr val="3A4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76072" y="3035808"/>
            <a:ext cx="1798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self-corrects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374240" y="3035808"/>
            <a:ext cx="19979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6 working. No intervention needed.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645152" y="3035808"/>
            <a:ext cx="3995928" cy="347472"/>
          </a:xfrm>
          <a:prstGeom prst="rect">
            <a:avLst/>
          </a:prstGeom>
          <a:solidFill>
            <a:srgbClr val="252B3D"/>
          </a:solidFill>
          <a:ln w="6350">
            <a:solidFill>
              <a:srgbClr val="3A4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18304" y="3035808"/>
            <a:ext cx="1798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commit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516472" y="3035808"/>
            <a:ext cx="19979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sprints. Three commits. Git log.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1215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371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Recovery Card — What Could Go Wrong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818120"/>
            <a:ext cx="3995928" cy="384048"/>
          </a:xfrm>
          <a:prstGeom prst="rect">
            <a:avLst/>
          </a:prstGeom>
          <a:solidFill>
            <a:srgbClr val="252B3D"/>
          </a:solidFill>
          <a:ln w="6350">
            <a:solidFill>
              <a:srgbClr val="3A4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57784" y="896112"/>
            <a:ext cx="201168" cy="20116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57784" y="89611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13816" y="888722"/>
            <a:ext cx="3630168" cy="17282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 hit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13816" y="977494"/>
            <a:ext cx="3630168" cy="2112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 30s. Explain Azure quotas to audience. Resume.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645152" y="804672"/>
            <a:ext cx="3995928" cy="384048"/>
          </a:xfrm>
          <a:prstGeom prst="rect">
            <a:avLst/>
          </a:prstGeom>
          <a:solidFill>
            <a:srgbClr val="252B3D"/>
          </a:solidFill>
          <a:ln w="6350">
            <a:solidFill>
              <a:srgbClr val="3A4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0016" y="896112"/>
            <a:ext cx="201168" cy="20116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0016" y="89611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56048" y="878636"/>
            <a:ext cx="3630168" cy="17282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401 or 404 API error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56048" y="977494"/>
            <a:ext cx="3630168" cy="2112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.env exactly. Endpoint + deployment name + api-key header.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02920" y="1234440"/>
            <a:ext cx="3995928" cy="384048"/>
          </a:xfrm>
          <a:prstGeom prst="rect">
            <a:avLst/>
          </a:prstGeom>
          <a:solidFill>
            <a:srgbClr val="252B3D"/>
          </a:solidFill>
          <a:ln w="6350">
            <a:solidFill>
              <a:srgbClr val="3A4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57784" y="1325880"/>
            <a:ext cx="201168" cy="20116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57784" y="13258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13816" y="1311766"/>
            <a:ext cx="3630168" cy="17282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calls OpenAI not Azure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13816" y="1407262"/>
            <a:ext cx="3630168" cy="2112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Stop. The endpoint is in .env. Use it verbatim.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645152" y="1234440"/>
            <a:ext cx="3995928" cy="384048"/>
          </a:xfrm>
          <a:prstGeom prst="rect">
            <a:avLst/>
          </a:prstGeom>
          <a:solidFill>
            <a:srgbClr val="252B3D"/>
          </a:solidFill>
          <a:ln w="6350">
            <a:solidFill>
              <a:srgbClr val="3A4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00016" y="1325880"/>
            <a:ext cx="201168" cy="20116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00016" y="13258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56048" y="1268060"/>
            <a:ext cx="3630168" cy="17282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proposes React or DB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56048" y="1407262"/>
            <a:ext cx="3630168" cy="2112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Stop. README says plain HTML + Node. Simplify.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02920" y="1664208"/>
            <a:ext cx="3995928" cy="384048"/>
          </a:xfrm>
          <a:prstGeom prst="rect">
            <a:avLst/>
          </a:prstGeom>
          <a:solidFill>
            <a:srgbClr val="252B3D"/>
          </a:solidFill>
          <a:ln w="6350">
            <a:solidFill>
              <a:srgbClr val="3A4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57784" y="1755648"/>
            <a:ext cx="201168" cy="20116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57784" y="175564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13816" y="1697828"/>
            <a:ext cx="3630168" cy="17282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skips a sprint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13816" y="1837030"/>
            <a:ext cx="3630168" cy="2112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Stop. Show me the AC for last sprint. Confirm pass.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645152" y="1664208"/>
            <a:ext cx="3995928" cy="384048"/>
          </a:xfrm>
          <a:prstGeom prst="rect">
            <a:avLst/>
          </a:prstGeom>
          <a:solidFill>
            <a:srgbClr val="252B3D"/>
          </a:solidFill>
          <a:ln w="6350">
            <a:solidFill>
              <a:srgbClr val="3A4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00016" y="1755648"/>
            <a:ext cx="201168" cy="20116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00016" y="175564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56048" y="1697828"/>
            <a:ext cx="3630168" cy="17282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commit after sprint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56048" y="1837030"/>
            <a:ext cx="3630168" cy="2112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add -A &amp;&amp; git commit -m 'Sprint N: [summary]'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02920" y="2093976"/>
            <a:ext cx="3995928" cy="384048"/>
          </a:xfrm>
          <a:prstGeom prst="rect">
            <a:avLst/>
          </a:prstGeom>
          <a:solidFill>
            <a:srgbClr val="252B3D"/>
          </a:solidFill>
          <a:ln w="6350">
            <a:solidFill>
              <a:srgbClr val="3A4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57784" y="2185416"/>
            <a:ext cx="201168" cy="20116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57784" y="218541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13816" y="2127596"/>
            <a:ext cx="3630168" cy="17282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 error on API call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13816" y="2266798"/>
            <a:ext cx="3630168" cy="2112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cors to Express. npm install cors. app.use(cors()).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645152" y="2093976"/>
            <a:ext cx="3995928" cy="384048"/>
          </a:xfrm>
          <a:prstGeom prst="rect">
            <a:avLst/>
          </a:prstGeom>
          <a:solidFill>
            <a:srgbClr val="252B3D"/>
          </a:solidFill>
          <a:ln w="6350">
            <a:solidFill>
              <a:srgbClr val="3A4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700016" y="2185416"/>
            <a:ext cx="201168" cy="20116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700016" y="218541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956048" y="2127596"/>
            <a:ext cx="3630168" cy="17282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won’t start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956048" y="2266798"/>
            <a:ext cx="3630168" cy="2112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error. Fix it. Run again. Never commit broken.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02920" y="2523744"/>
            <a:ext cx="3995928" cy="384048"/>
          </a:xfrm>
          <a:prstGeom prst="rect">
            <a:avLst/>
          </a:prstGeom>
          <a:solidFill>
            <a:srgbClr val="252B3D"/>
          </a:solidFill>
          <a:ln w="6350">
            <a:solidFill>
              <a:srgbClr val="3A4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57784" y="2615184"/>
            <a:ext cx="201168" cy="20116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57784" y="261518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13816" y="2554002"/>
            <a:ext cx="3630168" cy="17282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SuperWhisper mishear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13816" y="2696566"/>
            <a:ext cx="3630168" cy="2112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'Scratch that. Correct version:' — re-dictate slowly.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645152" y="2523744"/>
            <a:ext cx="3995928" cy="384048"/>
          </a:xfrm>
          <a:prstGeom prst="rect">
            <a:avLst/>
          </a:prstGeom>
          <a:solidFill>
            <a:srgbClr val="252B3D"/>
          </a:solidFill>
          <a:ln w="6350">
            <a:solidFill>
              <a:srgbClr val="3A4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4700016" y="2615184"/>
            <a:ext cx="201168" cy="20116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700016" y="261518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956048" y="2557364"/>
            <a:ext cx="3630168" cy="17282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E3C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out of time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956048" y="2696566"/>
            <a:ext cx="3630168" cy="2112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'Fast-forward to final sprint.' Min viable demo. Commit.</a:t>
            </a:r>
            <a:endParaRPr lang="en-US" sz="7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828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Just Happened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777240"/>
            <a:ext cx="4114800" cy="2743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●  ●   policy-converter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4114800" cy="1188720"/>
          </a:xfrm>
          <a:prstGeom prst="rect">
            <a:avLst/>
          </a:prstGeom>
          <a:solidFill>
            <a:srgbClr val="0D0D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09728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E3C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log --oneline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f3a2b1c  Sprint 3: Frontend wiring + clipboard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b9c4d2e  Sprint 2: Azure OpenAI integration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a1b2c3d  Sprint 1: HTML scaffold + styling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e5f6a7b  Initial commit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92040" y="777240"/>
            <a:ext cx="3749040" cy="438912"/>
          </a:xfrm>
          <a:prstGeom prst="rect">
            <a:avLst/>
          </a:prstGeom>
          <a:solidFill>
            <a:srgbClr val="252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01768" y="804672"/>
            <a:ext cx="3529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C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sprints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01768" y="1005840"/>
            <a:ext cx="35295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committed independently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92040" y="1280160"/>
            <a:ext cx="3749040" cy="438912"/>
          </a:xfrm>
          <a:prstGeom prst="rect">
            <a:avLst/>
          </a:prstGeom>
          <a:solidFill>
            <a:srgbClr val="252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01768" y="1307592"/>
            <a:ext cx="3529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C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artifacts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01768" y="1508760"/>
            <a:ext cx="35295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through ORCHESTRATOR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92040" y="1783080"/>
            <a:ext cx="3749040" cy="438912"/>
          </a:xfrm>
          <a:prstGeom prst="rect">
            <a:avLst/>
          </a:prstGeom>
          <a:solidFill>
            <a:srgbClr val="252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01768" y="1810512"/>
            <a:ext cx="3529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C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lines typed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01768" y="2011680"/>
            <a:ext cx="35295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voice-driven development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2468880"/>
            <a:ext cx="8138160" cy="1005840"/>
          </a:xfrm>
          <a:prstGeom prst="rect">
            <a:avLst/>
          </a:prstGeom>
          <a:solidFill>
            <a:srgbClr val="252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2468880"/>
            <a:ext cx="7589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None of that required a single line of typed code.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E3C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required stacked context and a process that manages itself.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E3C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we iterate based on feedback. That’s Session 3.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2920" y="3703320"/>
            <a:ext cx="8138160" cy="68580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5800" y="370332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b="1" kern="0" spc="300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IN SESSION 3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orchestration  •  Iteration &amp; review cycles  •  Cloud deployment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5997</Words>
  <Application>Microsoft Macintosh PowerPoint</Application>
  <PresentationFormat>On-screen Show (16:9)</PresentationFormat>
  <Paragraphs>724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Aptos</vt:lpstr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Coding Workshop: Voice-Driven Development with Claude Code — Session 2</dc:title>
  <dc:subject>PptxGenJS Presentation</dc:subject>
  <dc:creator>Austin Public Health - AI Technology &amp; Emerging Systems</dc:creator>
  <cp:lastModifiedBy>c c</cp:lastModifiedBy>
  <cp:revision>4</cp:revision>
  <dcterms:created xsi:type="dcterms:W3CDTF">2026-02-26T10:09:12Z</dcterms:created>
  <dcterms:modified xsi:type="dcterms:W3CDTF">2026-02-26T13:19:15Z</dcterms:modified>
</cp:coreProperties>
</file>